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77E72-A507-48C5-A3F1-3F8FBB423CB8}" type="doc">
      <dgm:prSet loTypeId="urn:microsoft.com/office/officeart/2018/2/layout/IconLabelList" loCatId="icon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2680D5B3-36D4-49A1-9E19-23697BD27358}">
      <dgm:prSet/>
      <dgm:spPr>
        <a:xfrm>
          <a:off x="12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B701B9FF-1DA7-4591-896B-8C5EAFA0C509}" type="parTrans" cxnId="{B1655D6F-7732-4203-842D-014EEA892F4A}">
      <dgm:prSet/>
      <dgm:spPr/>
      <dgm:t>
        <a:bodyPr/>
        <a:lstStyle/>
        <a:p>
          <a:endParaRPr lang="en-US"/>
        </a:p>
      </dgm:t>
    </dgm:pt>
    <dgm:pt modelId="{0261DF1A-670C-4A46-8AEA-1C29879BD128}" type="sibTrans" cxnId="{B1655D6F-7732-4203-842D-014EEA892F4A}">
      <dgm:prSet/>
      <dgm:spPr/>
      <dgm:t>
        <a:bodyPr/>
        <a:lstStyle/>
        <a:p>
          <a:endParaRPr lang="en-US"/>
        </a:p>
      </dgm:t>
    </dgm:pt>
    <dgm:pt modelId="{68D96F83-B6B6-4D60-AB86-BEA77589B50B}">
      <dgm:prSet/>
      <dgm:spPr>
        <a:xfrm>
          <a:off x="224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547CCED-9DB2-4448-BE8C-F506E74D309F}" type="parTrans" cxnId="{F9A9D250-F7A5-48AF-90C7-BB6B71A1A2C1}">
      <dgm:prSet/>
      <dgm:spPr/>
      <dgm:t>
        <a:bodyPr/>
        <a:lstStyle/>
        <a:p>
          <a:endParaRPr lang="en-US"/>
        </a:p>
      </dgm:t>
    </dgm:pt>
    <dgm:pt modelId="{95DEBE2B-D237-4C6D-BC16-666163FF8B4C}" type="sibTrans" cxnId="{F9A9D250-F7A5-48AF-90C7-BB6B71A1A2C1}">
      <dgm:prSet/>
      <dgm:spPr/>
      <dgm:t>
        <a:bodyPr/>
        <a:lstStyle/>
        <a:p>
          <a:endParaRPr lang="en-US"/>
        </a:p>
      </dgm:t>
    </dgm:pt>
    <dgm:pt modelId="{15DA72F8-7BCB-49A2-8270-B1B725A71C53}">
      <dgm:prSet/>
      <dgm:spPr>
        <a:xfrm>
          <a:off x="435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67DCBD6-E587-458D-A37D-487148457FC7}" type="parTrans" cxnId="{FA1EB80B-4B24-4CD8-A3AB-EE1047D82E0F}">
      <dgm:prSet/>
      <dgm:spPr/>
      <dgm:t>
        <a:bodyPr/>
        <a:lstStyle/>
        <a:p>
          <a:endParaRPr lang="en-US"/>
        </a:p>
      </dgm:t>
    </dgm:pt>
    <dgm:pt modelId="{832783F1-E8CD-4B18-9D47-A8F39A064EBE}" type="sibTrans" cxnId="{FA1EB80B-4B24-4CD8-A3AB-EE1047D82E0F}">
      <dgm:prSet/>
      <dgm:spPr/>
      <dgm:t>
        <a:bodyPr/>
        <a:lstStyle/>
        <a:p>
          <a:endParaRPr lang="en-US"/>
        </a:p>
      </dgm:t>
    </dgm:pt>
    <dgm:pt modelId="{C82B8C39-24CF-47A6-86B9-FDEE122F0CCB}">
      <dgm:prSet/>
      <dgm:spPr>
        <a:xfrm>
          <a:off x="6472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CB6BD38F-868E-4093-B3A7-A518CE96DBF5}" type="parTrans" cxnId="{BBE06B99-D80E-400E-8B41-E08297D9C752}">
      <dgm:prSet/>
      <dgm:spPr/>
      <dgm:t>
        <a:bodyPr/>
        <a:lstStyle/>
        <a:p>
          <a:endParaRPr lang="en-US"/>
        </a:p>
      </dgm:t>
    </dgm:pt>
    <dgm:pt modelId="{07B691EF-D1B1-4CF2-92E3-557037CE2547}" type="sibTrans" cxnId="{BBE06B99-D80E-400E-8B41-E08297D9C752}">
      <dgm:prSet/>
      <dgm:spPr/>
      <dgm:t>
        <a:bodyPr/>
        <a:lstStyle/>
        <a:p>
          <a:endParaRPr lang="en-US"/>
        </a:p>
      </dgm:t>
    </dgm:pt>
    <dgm:pt modelId="{912914F8-97ED-4574-A1C5-D037A37BF2C4}">
      <dgm:prSet/>
      <dgm:spPr>
        <a:xfrm>
          <a:off x="8587800" y="1999500"/>
          <a:ext cx="1800000" cy="1584999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lnSpc>
              <a:spcPct val="100000"/>
            </a:lnSpc>
            <a:buNone/>
          </a:pP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b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gm:t>
    </dgm:pt>
    <dgm:pt modelId="{E0561F54-CB81-4276-B40D-DD1021432D6F}" type="parTrans" cxnId="{A929A7A4-D7AE-43AC-93EB-227FB8DBF856}">
      <dgm:prSet/>
      <dgm:spPr/>
      <dgm:t>
        <a:bodyPr/>
        <a:lstStyle/>
        <a:p>
          <a:endParaRPr lang="en-US"/>
        </a:p>
      </dgm:t>
    </dgm:pt>
    <dgm:pt modelId="{335DBB54-E911-4B66-B687-38C781E1BB69}" type="sibTrans" cxnId="{A929A7A4-D7AE-43AC-93EB-227FB8DBF856}">
      <dgm:prSet/>
      <dgm:spPr/>
      <dgm:t>
        <a:bodyPr/>
        <a:lstStyle/>
        <a:p>
          <a:endParaRPr lang="en-US"/>
        </a:p>
      </dgm:t>
    </dgm:pt>
    <dgm:pt modelId="{99E21F32-F816-4590-8CE1-8E41AE8AE5ED}" type="pres">
      <dgm:prSet presAssocID="{5D977E72-A507-48C5-A3F1-3F8FBB423CB8}" presName="root" presStyleCnt="0">
        <dgm:presLayoutVars>
          <dgm:dir/>
          <dgm:resizeHandles val="exact"/>
        </dgm:presLayoutVars>
      </dgm:prSet>
      <dgm:spPr/>
    </dgm:pt>
    <dgm:pt modelId="{F0EBC390-0485-42B0-BB11-C1BADA8423E6}" type="pres">
      <dgm:prSet presAssocID="{2680D5B3-36D4-49A1-9E19-23697BD27358}" presName="compNode" presStyleCnt="0"/>
      <dgm:spPr/>
    </dgm:pt>
    <dgm:pt modelId="{BED4D780-AF69-42F3-9215-7FD35A4F9B3E}" type="pres">
      <dgm:prSet presAssocID="{2680D5B3-36D4-49A1-9E19-23697BD27358}" presName="iconRect" presStyleLbl="node1" presStyleIdx="0" presStyleCnt="5"/>
      <dgm:spPr>
        <a:xfrm>
          <a:off x="62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1363CF2-DFF0-48BD-B4B9-31491C9D94EF}" type="pres">
      <dgm:prSet presAssocID="{2680D5B3-36D4-49A1-9E19-23697BD27358}" presName="spaceRect" presStyleCnt="0"/>
      <dgm:spPr/>
    </dgm:pt>
    <dgm:pt modelId="{A55F3BED-CBF0-4225-AA66-57D3A6A73FFB}" type="pres">
      <dgm:prSet presAssocID="{2680D5B3-36D4-49A1-9E19-23697BD27358}" presName="textRect" presStyleLbl="revTx" presStyleIdx="0" presStyleCnt="5">
        <dgm:presLayoutVars>
          <dgm:chMax val="1"/>
          <dgm:chPref val="1"/>
        </dgm:presLayoutVars>
      </dgm:prSet>
      <dgm:spPr/>
    </dgm:pt>
    <dgm:pt modelId="{DEAD19C5-B14C-4E14-A861-D659E0E091CD}" type="pres">
      <dgm:prSet presAssocID="{0261DF1A-670C-4A46-8AEA-1C29879BD128}" presName="sibTrans" presStyleCnt="0"/>
      <dgm:spPr/>
    </dgm:pt>
    <dgm:pt modelId="{29103CB8-B65A-4CA9-9DED-2131B35BDF6D}" type="pres">
      <dgm:prSet presAssocID="{68D96F83-B6B6-4D60-AB86-BEA77589B50B}" presName="compNode" presStyleCnt="0"/>
      <dgm:spPr/>
    </dgm:pt>
    <dgm:pt modelId="{D529AF6B-FDC7-45DE-BE5C-DFB2342078E8}" type="pres">
      <dgm:prSet presAssocID="{68D96F83-B6B6-4D60-AB86-BEA77589B50B}" presName="iconRect" presStyleLbl="node1" presStyleIdx="1" presStyleCnt="5"/>
      <dgm:spPr>
        <a:xfrm>
          <a:off x="273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Lâmpada"/>
        </a:ext>
      </dgm:extLst>
    </dgm:pt>
    <dgm:pt modelId="{CE1FA342-A58B-4F6F-A995-EE37EC69901A}" type="pres">
      <dgm:prSet presAssocID="{68D96F83-B6B6-4D60-AB86-BEA77589B50B}" presName="spaceRect" presStyleCnt="0"/>
      <dgm:spPr/>
    </dgm:pt>
    <dgm:pt modelId="{446D96EB-BA20-4DFB-ADDC-0756EEFC8A3E}" type="pres">
      <dgm:prSet presAssocID="{68D96F83-B6B6-4D60-AB86-BEA77589B50B}" presName="textRect" presStyleLbl="revTx" presStyleIdx="1" presStyleCnt="5">
        <dgm:presLayoutVars>
          <dgm:chMax val="1"/>
          <dgm:chPref val="1"/>
        </dgm:presLayoutVars>
      </dgm:prSet>
      <dgm:spPr/>
    </dgm:pt>
    <dgm:pt modelId="{F51E161C-7A63-4B07-9F2B-0CA1CB6F56B9}" type="pres">
      <dgm:prSet presAssocID="{95DEBE2B-D237-4C6D-BC16-666163FF8B4C}" presName="sibTrans" presStyleCnt="0"/>
      <dgm:spPr/>
    </dgm:pt>
    <dgm:pt modelId="{DA5FCD14-0791-4D5E-90ED-3FE478CA4277}" type="pres">
      <dgm:prSet presAssocID="{15DA72F8-7BCB-49A2-8270-B1B725A71C53}" presName="compNode" presStyleCnt="0"/>
      <dgm:spPr/>
    </dgm:pt>
    <dgm:pt modelId="{AE89DA73-D2EC-4420-8E54-3599188CC583}" type="pres">
      <dgm:prSet presAssocID="{15DA72F8-7BCB-49A2-8270-B1B725A71C53}" presName="iconRect" presStyleLbl="node1" presStyleIdx="2" presStyleCnt="5"/>
      <dgm:spPr>
        <a:xfrm>
          <a:off x="485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DDC7955-2A1B-43A3-9B9C-3173AF6777C6}" type="pres">
      <dgm:prSet presAssocID="{15DA72F8-7BCB-49A2-8270-B1B725A71C53}" presName="spaceRect" presStyleCnt="0"/>
      <dgm:spPr/>
    </dgm:pt>
    <dgm:pt modelId="{899DF08E-303A-4FF4-8D61-3471A325A9DA}" type="pres">
      <dgm:prSet presAssocID="{15DA72F8-7BCB-49A2-8270-B1B725A71C53}" presName="textRect" presStyleLbl="revTx" presStyleIdx="2" presStyleCnt="5">
        <dgm:presLayoutVars>
          <dgm:chMax val="1"/>
          <dgm:chPref val="1"/>
        </dgm:presLayoutVars>
      </dgm:prSet>
      <dgm:spPr/>
    </dgm:pt>
    <dgm:pt modelId="{060EBA1F-0C5C-42BD-BED5-22DAB6D1D8AA}" type="pres">
      <dgm:prSet presAssocID="{832783F1-E8CD-4B18-9D47-A8F39A064EBE}" presName="sibTrans" presStyleCnt="0"/>
      <dgm:spPr/>
    </dgm:pt>
    <dgm:pt modelId="{20EE46EF-8F9F-4841-B4F1-CA0C4392F8BD}" type="pres">
      <dgm:prSet presAssocID="{C82B8C39-24CF-47A6-86B9-FDEE122F0CCB}" presName="compNode" presStyleCnt="0"/>
      <dgm:spPr/>
    </dgm:pt>
    <dgm:pt modelId="{D0DA4DD8-DD23-4399-83FB-7816F7064066}" type="pres">
      <dgm:prSet presAssocID="{C82B8C39-24CF-47A6-86B9-FDEE122F0CCB}" presName="iconRect" presStyleLbl="node1" presStyleIdx="3" presStyleCnt="5"/>
      <dgm:spPr>
        <a:xfrm>
          <a:off x="6967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48EA6F8B-EF03-40EB-84BC-74F90E3F4687}" type="pres">
      <dgm:prSet presAssocID="{C82B8C39-24CF-47A6-86B9-FDEE122F0CCB}" presName="spaceRect" presStyleCnt="0"/>
      <dgm:spPr/>
    </dgm:pt>
    <dgm:pt modelId="{95E90B41-8355-4C5F-B8FA-5A3C1A9A35AD}" type="pres">
      <dgm:prSet presAssocID="{C82B8C39-24CF-47A6-86B9-FDEE122F0CCB}" presName="textRect" presStyleLbl="revTx" presStyleIdx="3" presStyleCnt="5">
        <dgm:presLayoutVars>
          <dgm:chMax val="1"/>
          <dgm:chPref val="1"/>
        </dgm:presLayoutVars>
      </dgm:prSet>
      <dgm:spPr/>
    </dgm:pt>
    <dgm:pt modelId="{08668141-F824-4BB5-9210-1677474B3856}" type="pres">
      <dgm:prSet presAssocID="{07B691EF-D1B1-4CF2-92E3-557037CE2547}" presName="sibTrans" presStyleCnt="0"/>
      <dgm:spPr/>
    </dgm:pt>
    <dgm:pt modelId="{E67CB3D9-9A2F-41BA-94E6-C8CD53CA7745}" type="pres">
      <dgm:prSet presAssocID="{912914F8-97ED-4574-A1C5-D037A37BF2C4}" presName="compNode" presStyleCnt="0"/>
      <dgm:spPr/>
    </dgm:pt>
    <dgm:pt modelId="{14002986-5ED2-4D79-BC3D-733AD9AAE210}" type="pres">
      <dgm:prSet presAssocID="{912914F8-97ED-4574-A1C5-D037A37BF2C4}" presName="iconRect" presStyleLbl="node1" presStyleIdx="4" presStyleCnt="5"/>
      <dgm:spPr>
        <a:xfrm>
          <a:off x="9082800" y="766837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07E16DBD-1ACC-4E78-B21D-86B2F077BB74}" type="pres">
      <dgm:prSet presAssocID="{912914F8-97ED-4574-A1C5-D037A37BF2C4}" presName="spaceRect" presStyleCnt="0"/>
      <dgm:spPr/>
    </dgm:pt>
    <dgm:pt modelId="{CAF28E60-8403-4BB5-A1A9-5772CC4EA4A5}" type="pres">
      <dgm:prSet presAssocID="{912914F8-97ED-4574-A1C5-D037A37BF2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A1EB80B-4B24-4CD8-A3AB-EE1047D82E0F}" srcId="{5D977E72-A507-48C5-A3F1-3F8FBB423CB8}" destId="{15DA72F8-7BCB-49A2-8270-B1B725A71C53}" srcOrd="2" destOrd="0" parTransId="{C67DCBD6-E587-458D-A37D-487148457FC7}" sibTransId="{832783F1-E8CD-4B18-9D47-A8F39A064EBE}"/>
    <dgm:cxn modelId="{C7EB2B22-EAD2-4C60-B3D6-2DA6DFA44C82}" type="presOf" srcId="{15DA72F8-7BCB-49A2-8270-B1B725A71C53}" destId="{899DF08E-303A-4FF4-8D61-3471A325A9DA}" srcOrd="0" destOrd="0" presId="urn:microsoft.com/office/officeart/2018/2/layout/IconLabelList"/>
    <dgm:cxn modelId="{9EB5E92F-92F4-4180-B74C-92CC23E9CECB}" type="presOf" srcId="{912914F8-97ED-4574-A1C5-D037A37BF2C4}" destId="{CAF28E60-8403-4BB5-A1A9-5772CC4EA4A5}" srcOrd="0" destOrd="0" presId="urn:microsoft.com/office/officeart/2018/2/layout/IconLabelList"/>
    <dgm:cxn modelId="{B1655D6F-7732-4203-842D-014EEA892F4A}" srcId="{5D977E72-A507-48C5-A3F1-3F8FBB423CB8}" destId="{2680D5B3-36D4-49A1-9E19-23697BD27358}" srcOrd="0" destOrd="0" parTransId="{B701B9FF-1DA7-4591-896B-8C5EAFA0C509}" sibTransId="{0261DF1A-670C-4A46-8AEA-1C29879BD128}"/>
    <dgm:cxn modelId="{F9A9D250-F7A5-48AF-90C7-BB6B71A1A2C1}" srcId="{5D977E72-A507-48C5-A3F1-3F8FBB423CB8}" destId="{68D96F83-B6B6-4D60-AB86-BEA77589B50B}" srcOrd="1" destOrd="0" parTransId="{E547CCED-9DB2-4448-BE8C-F506E74D309F}" sibTransId="{95DEBE2B-D237-4C6D-BC16-666163FF8B4C}"/>
    <dgm:cxn modelId="{02ECA753-F09D-4AC5-AC32-0294A9E461E5}" type="presOf" srcId="{C82B8C39-24CF-47A6-86B9-FDEE122F0CCB}" destId="{95E90B41-8355-4C5F-B8FA-5A3C1A9A35AD}" srcOrd="0" destOrd="0" presId="urn:microsoft.com/office/officeart/2018/2/layout/IconLabelList"/>
    <dgm:cxn modelId="{9B8F0559-4C85-4A07-AC1F-2EA3D6702A4F}" type="presOf" srcId="{68D96F83-B6B6-4D60-AB86-BEA77589B50B}" destId="{446D96EB-BA20-4DFB-ADDC-0756EEFC8A3E}" srcOrd="0" destOrd="0" presId="urn:microsoft.com/office/officeart/2018/2/layout/IconLabelList"/>
    <dgm:cxn modelId="{17E8AD7A-19F1-45F4-BDE6-C899807A5A42}" type="presOf" srcId="{2680D5B3-36D4-49A1-9E19-23697BD27358}" destId="{A55F3BED-CBF0-4225-AA66-57D3A6A73FFB}" srcOrd="0" destOrd="0" presId="urn:microsoft.com/office/officeart/2018/2/layout/IconLabelList"/>
    <dgm:cxn modelId="{BBE06B99-D80E-400E-8B41-E08297D9C752}" srcId="{5D977E72-A507-48C5-A3F1-3F8FBB423CB8}" destId="{C82B8C39-24CF-47A6-86B9-FDEE122F0CCB}" srcOrd="3" destOrd="0" parTransId="{CB6BD38F-868E-4093-B3A7-A518CE96DBF5}" sibTransId="{07B691EF-D1B1-4CF2-92E3-557037CE2547}"/>
    <dgm:cxn modelId="{A929A7A4-D7AE-43AC-93EB-227FB8DBF856}" srcId="{5D977E72-A507-48C5-A3F1-3F8FBB423CB8}" destId="{912914F8-97ED-4574-A1C5-D037A37BF2C4}" srcOrd="4" destOrd="0" parTransId="{E0561F54-CB81-4276-B40D-DD1021432D6F}" sibTransId="{335DBB54-E911-4B66-B687-38C781E1BB69}"/>
    <dgm:cxn modelId="{9E907ACD-F9CC-40A0-848D-70B3C063CA2D}" type="presOf" srcId="{5D977E72-A507-48C5-A3F1-3F8FBB423CB8}" destId="{99E21F32-F816-4590-8CE1-8E41AE8AE5ED}" srcOrd="0" destOrd="0" presId="urn:microsoft.com/office/officeart/2018/2/layout/IconLabelList"/>
    <dgm:cxn modelId="{44036CAF-F0D3-4A35-ACB6-E0345D669A9C}" type="presParOf" srcId="{99E21F32-F816-4590-8CE1-8E41AE8AE5ED}" destId="{F0EBC390-0485-42B0-BB11-C1BADA8423E6}" srcOrd="0" destOrd="0" presId="urn:microsoft.com/office/officeart/2018/2/layout/IconLabelList"/>
    <dgm:cxn modelId="{61856DF8-D84D-4002-8118-C87A9DF1BB5B}" type="presParOf" srcId="{F0EBC390-0485-42B0-BB11-C1BADA8423E6}" destId="{BED4D780-AF69-42F3-9215-7FD35A4F9B3E}" srcOrd="0" destOrd="0" presId="urn:microsoft.com/office/officeart/2018/2/layout/IconLabelList"/>
    <dgm:cxn modelId="{29CEFFD6-F377-4CA1-AF81-34D271343A0C}" type="presParOf" srcId="{F0EBC390-0485-42B0-BB11-C1BADA8423E6}" destId="{61363CF2-DFF0-48BD-B4B9-31491C9D94EF}" srcOrd="1" destOrd="0" presId="urn:microsoft.com/office/officeart/2018/2/layout/IconLabelList"/>
    <dgm:cxn modelId="{80B9968E-09E2-49B7-8E36-663EB0C0361A}" type="presParOf" srcId="{F0EBC390-0485-42B0-BB11-C1BADA8423E6}" destId="{A55F3BED-CBF0-4225-AA66-57D3A6A73FFB}" srcOrd="2" destOrd="0" presId="urn:microsoft.com/office/officeart/2018/2/layout/IconLabelList"/>
    <dgm:cxn modelId="{B2A5A591-018B-4CA1-91BB-6BF1DE0C4537}" type="presParOf" srcId="{99E21F32-F816-4590-8CE1-8E41AE8AE5ED}" destId="{DEAD19C5-B14C-4E14-A861-D659E0E091CD}" srcOrd="1" destOrd="0" presId="urn:microsoft.com/office/officeart/2018/2/layout/IconLabelList"/>
    <dgm:cxn modelId="{283B0D8A-ED8B-4CC4-853E-090095F6633F}" type="presParOf" srcId="{99E21F32-F816-4590-8CE1-8E41AE8AE5ED}" destId="{29103CB8-B65A-4CA9-9DED-2131B35BDF6D}" srcOrd="2" destOrd="0" presId="urn:microsoft.com/office/officeart/2018/2/layout/IconLabelList"/>
    <dgm:cxn modelId="{4D1016B4-F61A-4682-8E5B-02E9DC6EC572}" type="presParOf" srcId="{29103CB8-B65A-4CA9-9DED-2131B35BDF6D}" destId="{D529AF6B-FDC7-45DE-BE5C-DFB2342078E8}" srcOrd="0" destOrd="0" presId="urn:microsoft.com/office/officeart/2018/2/layout/IconLabelList"/>
    <dgm:cxn modelId="{0647EC69-DD06-42DB-A59C-D447697476BA}" type="presParOf" srcId="{29103CB8-B65A-4CA9-9DED-2131B35BDF6D}" destId="{CE1FA342-A58B-4F6F-A995-EE37EC69901A}" srcOrd="1" destOrd="0" presId="urn:microsoft.com/office/officeart/2018/2/layout/IconLabelList"/>
    <dgm:cxn modelId="{C538FC20-B4DD-4008-993D-897A8B1F6163}" type="presParOf" srcId="{29103CB8-B65A-4CA9-9DED-2131B35BDF6D}" destId="{446D96EB-BA20-4DFB-ADDC-0756EEFC8A3E}" srcOrd="2" destOrd="0" presId="urn:microsoft.com/office/officeart/2018/2/layout/IconLabelList"/>
    <dgm:cxn modelId="{0C0FF0B5-6FD8-44AB-8568-260CFF8CFB34}" type="presParOf" srcId="{99E21F32-F816-4590-8CE1-8E41AE8AE5ED}" destId="{F51E161C-7A63-4B07-9F2B-0CA1CB6F56B9}" srcOrd="3" destOrd="0" presId="urn:microsoft.com/office/officeart/2018/2/layout/IconLabelList"/>
    <dgm:cxn modelId="{6650E004-35FC-4EF0-BB09-60444AB71364}" type="presParOf" srcId="{99E21F32-F816-4590-8CE1-8E41AE8AE5ED}" destId="{DA5FCD14-0791-4D5E-90ED-3FE478CA4277}" srcOrd="4" destOrd="0" presId="urn:microsoft.com/office/officeart/2018/2/layout/IconLabelList"/>
    <dgm:cxn modelId="{6D225E3B-FF26-4996-8AA9-662614C25E89}" type="presParOf" srcId="{DA5FCD14-0791-4D5E-90ED-3FE478CA4277}" destId="{AE89DA73-D2EC-4420-8E54-3599188CC583}" srcOrd="0" destOrd="0" presId="urn:microsoft.com/office/officeart/2018/2/layout/IconLabelList"/>
    <dgm:cxn modelId="{2C103076-0A64-4AA0-B3F3-016E59FFCD21}" type="presParOf" srcId="{DA5FCD14-0791-4D5E-90ED-3FE478CA4277}" destId="{5DDC7955-2A1B-43A3-9B9C-3173AF6777C6}" srcOrd="1" destOrd="0" presId="urn:microsoft.com/office/officeart/2018/2/layout/IconLabelList"/>
    <dgm:cxn modelId="{C4124534-4667-43D0-83FA-2D24AAC791FA}" type="presParOf" srcId="{DA5FCD14-0791-4D5E-90ED-3FE478CA4277}" destId="{899DF08E-303A-4FF4-8D61-3471A325A9DA}" srcOrd="2" destOrd="0" presId="urn:microsoft.com/office/officeart/2018/2/layout/IconLabelList"/>
    <dgm:cxn modelId="{0F6CF375-924F-4D74-A289-3FC221576962}" type="presParOf" srcId="{99E21F32-F816-4590-8CE1-8E41AE8AE5ED}" destId="{060EBA1F-0C5C-42BD-BED5-22DAB6D1D8AA}" srcOrd="5" destOrd="0" presId="urn:microsoft.com/office/officeart/2018/2/layout/IconLabelList"/>
    <dgm:cxn modelId="{7C47E2BA-9E25-40B3-AF41-67CF298B482E}" type="presParOf" srcId="{99E21F32-F816-4590-8CE1-8E41AE8AE5ED}" destId="{20EE46EF-8F9F-4841-B4F1-CA0C4392F8BD}" srcOrd="6" destOrd="0" presId="urn:microsoft.com/office/officeart/2018/2/layout/IconLabelList"/>
    <dgm:cxn modelId="{85723408-264F-4DC3-B8BA-1AB853E83422}" type="presParOf" srcId="{20EE46EF-8F9F-4841-B4F1-CA0C4392F8BD}" destId="{D0DA4DD8-DD23-4399-83FB-7816F7064066}" srcOrd="0" destOrd="0" presId="urn:microsoft.com/office/officeart/2018/2/layout/IconLabelList"/>
    <dgm:cxn modelId="{ECBAD39F-0C8D-402F-8583-D0AE1EB0D0E6}" type="presParOf" srcId="{20EE46EF-8F9F-4841-B4F1-CA0C4392F8BD}" destId="{48EA6F8B-EF03-40EB-84BC-74F90E3F4687}" srcOrd="1" destOrd="0" presId="urn:microsoft.com/office/officeart/2018/2/layout/IconLabelList"/>
    <dgm:cxn modelId="{60EC43AD-6CA4-411D-80F9-F1EFD6326788}" type="presParOf" srcId="{20EE46EF-8F9F-4841-B4F1-CA0C4392F8BD}" destId="{95E90B41-8355-4C5F-B8FA-5A3C1A9A35AD}" srcOrd="2" destOrd="0" presId="urn:microsoft.com/office/officeart/2018/2/layout/IconLabelList"/>
    <dgm:cxn modelId="{4ECCBF9E-D9C8-46B5-A903-4629BBA5486D}" type="presParOf" srcId="{99E21F32-F816-4590-8CE1-8E41AE8AE5ED}" destId="{08668141-F824-4BB5-9210-1677474B3856}" srcOrd="7" destOrd="0" presId="urn:microsoft.com/office/officeart/2018/2/layout/IconLabelList"/>
    <dgm:cxn modelId="{6A6FEE3A-4325-479F-8E61-541C12D744C3}" type="presParOf" srcId="{99E21F32-F816-4590-8CE1-8E41AE8AE5ED}" destId="{E67CB3D9-9A2F-41BA-94E6-C8CD53CA7745}" srcOrd="8" destOrd="0" presId="urn:microsoft.com/office/officeart/2018/2/layout/IconLabelList"/>
    <dgm:cxn modelId="{0D66408D-224C-4A13-833D-0FD1C31B18F9}" type="presParOf" srcId="{E67CB3D9-9A2F-41BA-94E6-C8CD53CA7745}" destId="{14002986-5ED2-4D79-BC3D-733AD9AAE210}" srcOrd="0" destOrd="0" presId="urn:microsoft.com/office/officeart/2018/2/layout/IconLabelList"/>
    <dgm:cxn modelId="{5D9F7E67-FDD0-4DF3-8544-615FAC027018}" type="presParOf" srcId="{E67CB3D9-9A2F-41BA-94E6-C8CD53CA7745}" destId="{07E16DBD-1ACC-4E78-B21D-86B2F077BB74}" srcOrd="1" destOrd="0" presId="urn:microsoft.com/office/officeart/2018/2/layout/IconLabelList"/>
    <dgm:cxn modelId="{2A258FA2-CD12-47D1-9AA9-4BC5E6D76390}" type="presParOf" srcId="{E67CB3D9-9A2F-41BA-94E6-C8CD53CA7745}" destId="{CAF28E60-8403-4BB5-A1A9-5772CC4EA4A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D4D780-AF69-42F3-9215-7FD35A4F9B3E}">
      <dsp:nvSpPr>
        <dsp:cNvPr id="0" name=""/>
        <dsp:cNvSpPr/>
      </dsp:nvSpPr>
      <dsp:spPr>
        <a:xfrm>
          <a:off x="1222466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5F3BED-CBF0-4225-AA66-57D3A6A73FFB}">
      <dsp:nvSpPr>
        <dsp:cNvPr id="0" name=""/>
        <dsp:cNvSpPr/>
      </dsp:nvSpPr>
      <dsp:spPr>
        <a:xfrm>
          <a:off x="476166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01. Pesquisa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Realizamos pesquisas para identificar as principais dificuldades das pessoas em relação à separação e ao descarte correto de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476166" y="3334200"/>
        <a:ext cx="2713818" cy="1235742"/>
      </dsp:txXfrm>
    </dsp:sp>
    <dsp:sp modelId="{D529AF6B-FDC7-45DE-BE5C-DFB2342078E8}">
      <dsp:nvSpPr>
        <dsp:cNvPr id="0" name=""/>
        <dsp:cNvSpPr/>
      </dsp:nvSpPr>
      <dsp:spPr>
        <a:xfrm>
          <a:off x="4411203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6D96EB-BA20-4DFB-ADDC-0756EEFC8A3E}">
      <dsp:nvSpPr>
        <dsp:cNvPr id="0" name=""/>
        <dsp:cNvSpPr/>
      </dsp:nvSpPr>
      <dsp:spPr>
        <a:xfrm>
          <a:off x="3664903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02. Ideação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ideias para um site educativo que utiliza elementos de gamificação para ensinar, de forma simples e divertida, como descartar diferentes tipos de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3664903" y="3334200"/>
        <a:ext cx="2713818" cy="1235742"/>
      </dsp:txXfrm>
    </dsp:sp>
    <dsp:sp modelId="{AE89DA73-D2EC-4420-8E54-3599188CC583}">
      <dsp:nvSpPr>
        <dsp:cNvPr id="0" name=""/>
        <dsp:cNvSpPr/>
      </dsp:nvSpPr>
      <dsp:spPr>
        <a:xfrm>
          <a:off x="7599940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9DF08E-303A-4FF4-8D61-3471A325A9DA}">
      <dsp:nvSpPr>
        <dsp:cNvPr id="0" name=""/>
        <dsp:cNvSpPr/>
      </dsp:nvSpPr>
      <dsp:spPr>
        <a:xfrm>
          <a:off x="6853640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03. Wireframing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os primeiros wireframes e fluxos de navegação, definindo a estrutura do site, as telas do jogo e a organização das informações.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6853640" y="3334200"/>
        <a:ext cx="2713818" cy="1235742"/>
      </dsp:txXfrm>
    </dsp:sp>
    <dsp:sp modelId="{D0DA4DD8-DD23-4399-83FB-7816F7064066}">
      <dsp:nvSpPr>
        <dsp:cNvPr id="0" name=""/>
        <dsp:cNvSpPr/>
      </dsp:nvSpPr>
      <dsp:spPr>
        <a:xfrm>
          <a:off x="10788677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90B41-8355-4C5F-B8FA-5A3C1A9A35AD}">
      <dsp:nvSpPr>
        <dsp:cNvPr id="0" name=""/>
        <dsp:cNvSpPr/>
      </dsp:nvSpPr>
      <dsp:spPr>
        <a:xfrm>
          <a:off x="10042377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04. Prototipagem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Criamos um protótipo funcional do jogo para testar a interação dos usuários e avaliar se a dinâmica facilita o aprendizado sobre a separação dos resíduos.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0042377" y="3334200"/>
        <a:ext cx="2713818" cy="1235742"/>
      </dsp:txXfrm>
    </dsp:sp>
    <dsp:sp modelId="{14002986-5ED2-4D79-BC3D-733AD9AAE210}">
      <dsp:nvSpPr>
        <dsp:cNvPr id="0" name=""/>
        <dsp:cNvSpPr/>
      </dsp:nvSpPr>
      <dsp:spPr>
        <a:xfrm>
          <a:off x="13977414" y="1678457"/>
          <a:ext cx="1221218" cy="1221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28E60-8403-4BB5-A1A9-5772CC4EA4A5}">
      <dsp:nvSpPr>
        <dsp:cNvPr id="0" name=""/>
        <dsp:cNvSpPr/>
      </dsp:nvSpPr>
      <dsp:spPr>
        <a:xfrm>
          <a:off x="13231114" y="3334200"/>
          <a:ext cx="2713818" cy="12357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05. Desenvolvimento Final</a:t>
          </a:r>
          <a:b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</a:br>
          <a:r>
            <a:rPr lang="pt-BR" sz="1100" b="1" kern="120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Neue Haas Grotesk Text Pro"/>
              <a:ea typeface="+mn-ea"/>
              <a:cs typeface="+mn-cs"/>
            </a:rPr>
            <a:t>Desenvolvemos o site com o jogo integrado, conteúdos educativos e uma interface responsiva, proporcionando uma experiência interativa de aprendizado sobre o descarte correto do lixo.</a:t>
          </a:r>
          <a:endParaRPr lang="en-US" sz="1100" kern="120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Neue Haas Grotesk Text Pro"/>
            <a:ea typeface="+mn-ea"/>
            <a:cs typeface="+mn-cs"/>
          </a:endParaRPr>
        </a:p>
      </dsp:txBody>
      <dsp:txXfrm>
        <a:off x="13231114" y="3334200"/>
        <a:ext cx="2713818" cy="12357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1234049" y="1234049"/>
                </a:moveTo>
                <a:lnTo>
                  <a:pt x="0" y="1234049"/>
                </a:lnTo>
                <a:lnTo>
                  <a:pt x="0" y="0"/>
                </a:lnTo>
                <a:lnTo>
                  <a:pt x="1234049" y="0"/>
                </a:lnTo>
                <a:lnTo>
                  <a:pt x="1234049" y="123404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181977" y="2805864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39" h="1234439">
                <a:moveTo>
                  <a:pt x="0" y="0"/>
                </a:moveTo>
                <a:lnTo>
                  <a:pt x="1233943" y="0"/>
                </a:lnTo>
                <a:lnTo>
                  <a:pt x="1233943" y="1233943"/>
                </a:lnTo>
                <a:lnTo>
                  <a:pt x="0" y="1233943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16814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8AE6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3914" y="4115752"/>
            <a:ext cx="16459200" cy="288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8678" y="291338"/>
            <a:ext cx="16770985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Korean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IT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dirty="0">
                <a:solidFill>
                  <a:srgbClr val="1D8354"/>
                </a:solidFill>
                <a:latin typeface="Arial"/>
                <a:cs typeface="Arial"/>
              </a:rPr>
              <a:t>Educational</a:t>
            </a:r>
            <a:r>
              <a:rPr sz="8100" b="1" spc="-25" dirty="0">
                <a:solidFill>
                  <a:srgbClr val="1D8354"/>
                </a:solidFill>
                <a:latin typeface="Arial"/>
                <a:cs typeface="Arial"/>
              </a:rPr>
              <a:t> </a:t>
            </a:r>
            <a:r>
              <a:rPr sz="8100" b="1" spc="-10" dirty="0">
                <a:solidFill>
                  <a:srgbClr val="1D8354"/>
                </a:solidFill>
                <a:latin typeface="Arial"/>
                <a:cs typeface="Arial"/>
              </a:rPr>
              <a:t>Foundation</a:t>
            </a:r>
            <a:endParaRPr sz="81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2635" y="6737925"/>
            <a:ext cx="8431530" cy="591185"/>
            <a:chOff x="72635" y="6737925"/>
            <a:chExt cx="8431530" cy="591185"/>
          </a:xfrm>
        </p:grpSpPr>
        <p:sp>
          <p:nvSpPr>
            <p:cNvPr id="4" name="object 4"/>
            <p:cNvSpPr/>
            <p:nvPr/>
          </p:nvSpPr>
          <p:spPr>
            <a:xfrm>
              <a:off x="359411" y="6756947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0431" y="6757424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687" y="6756977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685" y="6756975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72635" y="7405313"/>
            <a:ext cx="8431530" cy="591185"/>
            <a:chOff x="72635" y="7405313"/>
            <a:chExt cx="8431530" cy="591185"/>
          </a:xfrm>
        </p:grpSpPr>
        <p:sp>
          <p:nvSpPr>
            <p:cNvPr id="9" name="object 9"/>
            <p:cNvSpPr/>
            <p:nvPr/>
          </p:nvSpPr>
          <p:spPr>
            <a:xfrm>
              <a:off x="359411" y="7424336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0431" y="7424812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687" y="7424366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685" y="7424363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2635" y="8072701"/>
            <a:ext cx="8431530" cy="591185"/>
            <a:chOff x="72635" y="8072701"/>
            <a:chExt cx="8431530" cy="591185"/>
          </a:xfrm>
        </p:grpSpPr>
        <p:sp>
          <p:nvSpPr>
            <p:cNvPr id="14" name="object 14"/>
            <p:cNvSpPr/>
            <p:nvPr/>
          </p:nvSpPr>
          <p:spPr>
            <a:xfrm>
              <a:off x="359411" y="8091724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0431" y="8092201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49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687" y="8091754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685" y="8091751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9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1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2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2635" y="8740089"/>
            <a:ext cx="8431530" cy="591185"/>
            <a:chOff x="72635" y="8740089"/>
            <a:chExt cx="8431530" cy="591185"/>
          </a:xfrm>
        </p:grpSpPr>
        <p:sp>
          <p:nvSpPr>
            <p:cNvPr id="19" name="object 19"/>
            <p:cNvSpPr/>
            <p:nvPr/>
          </p:nvSpPr>
          <p:spPr>
            <a:xfrm>
              <a:off x="359411" y="8759112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0431" y="8759588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5" y="0"/>
                  </a:moveTo>
                  <a:lnTo>
                    <a:pt x="8124455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1687" y="8759142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7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7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1685" y="8759139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5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41381" y="9407926"/>
            <a:ext cx="8162925" cy="590550"/>
            <a:chOff x="341381" y="9407926"/>
            <a:chExt cx="8162925" cy="590550"/>
          </a:xfrm>
        </p:grpSpPr>
        <p:sp>
          <p:nvSpPr>
            <p:cNvPr id="24" name="object 24"/>
            <p:cNvSpPr/>
            <p:nvPr/>
          </p:nvSpPr>
          <p:spPr>
            <a:xfrm>
              <a:off x="359411" y="9426500"/>
              <a:ext cx="8126095" cy="553085"/>
            </a:xfrm>
            <a:custGeom>
              <a:avLst/>
              <a:gdLst/>
              <a:ahLst/>
              <a:cxnLst/>
              <a:rect l="l" t="t" r="r" b="b"/>
              <a:pathLst>
                <a:path w="8126095" h="553084">
                  <a:moveTo>
                    <a:pt x="275595" y="0"/>
                  </a:moveTo>
                  <a:lnTo>
                    <a:pt x="8125844" y="0"/>
                  </a:lnTo>
                  <a:lnTo>
                    <a:pt x="8125844" y="552926"/>
                  </a:lnTo>
                  <a:lnTo>
                    <a:pt x="275624" y="552926"/>
                  </a:lnTo>
                  <a:lnTo>
                    <a:pt x="0" y="277301"/>
                  </a:lnTo>
                  <a:lnTo>
                    <a:pt x="0" y="275529"/>
                  </a:lnTo>
                  <a:lnTo>
                    <a:pt x="275595" y="0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60431" y="9426976"/>
              <a:ext cx="8124825" cy="552450"/>
            </a:xfrm>
            <a:custGeom>
              <a:avLst/>
              <a:gdLst/>
              <a:ahLst/>
              <a:cxnLst/>
              <a:rect l="l" t="t" r="r" b="b"/>
              <a:pathLst>
                <a:path w="8124825" h="552450">
                  <a:moveTo>
                    <a:pt x="0" y="274552"/>
                  </a:moveTo>
                  <a:lnTo>
                    <a:pt x="274647" y="0"/>
                  </a:lnTo>
                </a:path>
                <a:path w="8124825" h="552450">
                  <a:moveTo>
                    <a:pt x="8124454" y="0"/>
                  </a:moveTo>
                  <a:lnTo>
                    <a:pt x="8124454" y="552450"/>
                  </a:lnTo>
                  <a:lnTo>
                    <a:pt x="275065" y="552449"/>
                  </a:lnTo>
                  <a:lnTo>
                    <a:pt x="0" y="27738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5583" y="6820477"/>
            <a:ext cx="7006590" cy="3061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Tayler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Guilherme:Desenvolvedor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Líder</a:t>
            </a:r>
            <a:endParaRPr sz="2400">
              <a:latin typeface="Arial MT"/>
              <a:cs typeface="Arial MT"/>
            </a:endParaRPr>
          </a:p>
          <a:p>
            <a:pPr marL="12700" marR="5080" algn="ctr">
              <a:lnSpc>
                <a:spcPct val="182500"/>
              </a:lnSpc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Francoar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Gameplay</a:t>
            </a:r>
            <a:r>
              <a:rPr sz="2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QA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Jose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Trindade:Designer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Assets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Level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Design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Alan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Miranda:Product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Owner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Documentação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Carlos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Henrique:Engenheiro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Integração/DevOps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2635" y="9407476"/>
            <a:ext cx="590550" cy="590550"/>
            <a:chOff x="72635" y="9407476"/>
            <a:chExt cx="590550" cy="590550"/>
          </a:xfrm>
        </p:grpSpPr>
        <p:sp>
          <p:nvSpPr>
            <p:cNvPr id="28" name="object 28"/>
            <p:cNvSpPr/>
            <p:nvPr/>
          </p:nvSpPr>
          <p:spPr>
            <a:xfrm>
              <a:off x="91687" y="9426529"/>
              <a:ext cx="553085" cy="553085"/>
            </a:xfrm>
            <a:custGeom>
              <a:avLst/>
              <a:gdLst/>
              <a:ahLst/>
              <a:cxnLst/>
              <a:rect l="l" t="t" r="r" b="b"/>
              <a:pathLst>
                <a:path w="553085" h="553084">
                  <a:moveTo>
                    <a:pt x="276415" y="553021"/>
                  </a:moveTo>
                  <a:lnTo>
                    <a:pt x="226722" y="548565"/>
                  </a:lnTo>
                  <a:lnTo>
                    <a:pt x="179954" y="535719"/>
                  </a:lnTo>
                  <a:lnTo>
                    <a:pt x="136891" y="515263"/>
                  </a:lnTo>
                  <a:lnTo>
                    <a:pt x="98313" y="487980"/>
                  </a:lnTo>
                  <a:lnTo>
                    <a:pt x="65001" y="454652"/>
                  </a:lnTo>
                  <a:lnTo>
                    <a:pt x="37733" y="416059"/>
                  </a:lnTo>
                  <a:lnTo>
                    <a:pt x="17290" y="372983"/>
                  </a:lnTo>
                  <a:lnTo>
                    <a:pt x="4452" y="326206"/>
                  </a:lnTo>
                  <a:lnTo>
                    <a:pt x="0" y="276510"/>
                  </a:lnTo>
                  <a:lnTo>
                    <a:pt x="4455" y="226814"/>
                  </a:lnTo>
                  <a:lnTo>
                    <a:pt x="17302" y="180038"/>
                  </a:lnTo>
                  <a:lnTo>
                    <a:pt x="37757" y="136962"/>
                  </a:lnTo>
                  <a:lnTo>
                    <a:pt x="65040" y="98369"/>
                  </a:lnTo>
                  <a:lnTo>
                    <a:pt x="98369" y="65040"/>
                  </a:lnTo>
                  <a:lnTo>
                    <a:pt x="136962" y="37757"/>
                  </a:lnTo>
                  <a:lnTo>
                    <a:pt x="180038" y="17302"/>
                  </a:lnTo>
                  <a:lnTo>
                    <a:pt x="226814" y="4455"/>
                  </a:lnTo>
                  <a:lnTo>
                    <a:pt x="276510" y="0"/>
                  </a:lnTo>
                  <a:lnTo>
                    <a:pt x="326203" y="4455"/>
                  </a:lnTo>
                  <a:lnTo>
                    <a:pt x="372971" y="17302"/>
                  </a:lnTo>
                  <a:lnTo>
                    <a:pt x="416034" y="37757"/>
                  </a:lnTo>
                  <a:lnTo>
                    <a:pt x="454612" y="65040"/>
                  </a:lnTo>
                  <a:lnTo>
                    <a:pt x="487925" y="98369"/>
                  </a:lnTo>
                  <a:lnTo>
                    <a:pt x="515193" y="136962"/>
                  </a:lnTo>
                  <a:lnTo>
                    <a:pt x="535636" y="180038"/>
                  </a:lnTo>
                  <a:lnTo>
                    <a:pt x="548473" y="226814"/>
                  </a:lnTo>
                  <a:lnTo>
                    <a:pt x="552926" y="276510"/>
                  </a:lnTo>
                  <a:lnTo>
                    <a:pt x="548470" y="326206"/>
                  </a:lnTo>
                  <a:lnTo>
                    <a:pt x="535623" y="372983"/>
                  </a:lnTo>
                  <a:lnTo>
                    <a:pt x="515168" y="416059"/>
                  </a:lnTo>
                  <a:lnTo>
                    <a:pt x="487885" y="454652"/>
                  </a:lnTo>
                  <a:lnTo>
                    <a:pt x="454556" y="487980"/>
                  </a:lnTo>
                  <a:lnTo>
                    <a:pt x="415963" y="515263"/>
                  </a:lnTo>
                  <a:lnTo>
                    <a:pt x="372888" y="535719"/>
                  </a:lnTo>
                  <a:lnTo>
                    <a:pt x="326111" y="548565"/>
                  </a:lnTo>
                  <a:lnTo>
                    <a:pt x="276415" y="553021"/>
                  </a:lnTo>
                  <a:close/>
                </a:path>
              </a:pathLst>
            </a:custGeom>
            <a:solidFill>
              <a:srgbClr val="BDDAC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685" y="9426526"/>
              <a:ext cx="552450" cy="552450"/>
            </a:xfrm>
            <a:custGeom>
              <a:avLst/>
              <a:gdLst/>
              <a:ahLst/>
              <a:cxnLst/>
              <a:rect l="l" t="t" r="r" b="b"/>
              <a:pathLst>
                <a:path w="552450" h="552450">
                  <a:moveTo>
                    <a:pt x="552398" y="281820"/>
                  </a:moveTo>
                  <a:lnTo>
                    <a:pt x="548477" y="326192"/>
                  </a:lnTo>
                  <a:lnTo>
                    <a:pt x="535631" y="372975"/>
                  </a:lnTo>
                  <a:lnTo>
                    <a:pt x="515173" y="416057"/>
                  </a:lnTo>
                  <a:lnTo>
                    <a:pt x="487886" y="454656"/>
                  </a:lnTo>
                  <a:lnTo>
                    <a:pt x="454551" y="487988"/>
                  </a:lnTo>
                  <a:lnTo>
                    <a:pt x="415951" y="515273"/>
                  </a:lnTo>
                  <a:lnTo>
                    <a:pt x="372868" y="535727"/>
                  </a:lnTo>
                  <a:lnTo>
                    <a:pt x="326085" y="548570"/>
                  </a:lnTo>
                  <a:lnTo>
                    <a:pt x="282786" y="552391"/>
                  </a:lnTo>
                </a:path>
                <a:path w="552450" h="552450">
                  <a:moveTo>
                    <a:pt x="270048" y="552404"/>
                  </a:moveTo>
                  <a:lnTo>
                    <a:pt x="226688" y="548558"/>
                  </a:lnTo>
                  <a:lnTo>
                    <a:pt x="179919" y="535703"/>
                  </a:lnTo>
                  <a:lnTo>
                    <a:pt x="136858" y="515241"/>
                  </a:lnTo>
                  <a:lnTo>
                    <a:pt x="98285" y="487952"/>
                  </a:lnTo>
                  <a:lnTo>
                    <a:pt x="64978" y="454619"/>
                  </a:lnTo>
                  <a:lnTo>
                    <a:pt x="37717" y="416024"/>
                  </a:lnTo>
                  <a:lnTo>
                    <a:pt x="17282" y="372948"/>
                  </a:lnTo>
                  <a:lnTo>
                    <a:pt x="4451" y="326174"/>
                  </a:lnTo>
                  <a:lnTo>
                    <a:pt x="0" y="276483"/>
                  </a:lnTo>
                  <a:lnTo>
                    <a:pt x="4464" y="226794"/>
                  </a:lnTo>
                  <a:lnTo>
                    <a:pt x="17311" y="180025"/>
                  </a:lnTo>
                  <a:lnTo>
                    <a:pt x="37765" y="136957"/>
                  </a:lnTo>
                  <a:lnTo>
                    <a:pt x="65045" y="98370"/>
                  </a:lnTo>
                  <a:lnTo>
                    <a:pt x="98368" y="65045"/>
                  </a:lnTo>
                  <a:lnTo>
                    <a:pt x="136954" y="37765"/>
                  </a:lnTo>
                  <a:lnTo>
                    <a:pt x="180023" y="17309"/>
                  </a:lnTo>
                  <a:lnTo>
                    <a:pt x="226793" y="4460"/>
                  </a:lnTo>
                  <a:lnTo>
                    <a:pt x="276484" y="0"/>
                  </a:lnTo>
                  <a:lnTo>
                    <a:pt x="326173" y="4449"/>
                  </a:lnTo>
                  <a:lnTo>
                    <a:pt x="372940" y="17289"/>
                  </a:lnTo>
                  <a:lnTo>
                    <a:pt x="416005" y="37738"/>
                  </a:lnTo>
                  <a:lnTo>
                    <a:pt x="454587" y="65015"/>
                  </a:lnTo>
                  <a:lnTo>
                    <a:pt x="487905" y="98340"/>
                  </a:lnTo>
                  <a:lnTo>
                    <a:pt x="515179" y="136931"/>
                  </a:lnTo>
                  <a:lnTo>
                    <a:pt x="535629" y="180008"/>
                  </a:lnTo>
                  <a:lnTo>
                    <a:pt x="548473" y="226788"/>
                  </a:lnTo>
                  <a:lnTo>
                    <a:pt x="552402" y="27120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305820" y="1869820"/>
            <a:ext cx="9600565" cy="18980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9005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latin typeface="Arial MT"/>
                <a:cs typeface="Arial MT"/>
              </a:rPr>
              <a:t>Sort it </a:t>
            </a:r>
            <a:r>
              <a:rPr sz="4200" spc="-10" dirty="0">
                <a:latin typeface="Arial MT"/>
                <a:cs typeface="Arial MT"/>
              </a:rPr>
              <a:t>Right!</a:t>
            </a:r>
            <a:endParaRPr sz="42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3340"/>
              </a:spcBef>
            </a:pP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Ludic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0" dirty="0">
                <a:solidFill>
                  <a:srgbClr val="465469"/>
                </a:solidFill>
                <a:latin typeface="Tahoma"/>
                <a:cs typeface="Tahoma"/>
              </a:rPr>
              <a:t>Sorting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20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-225" dirty="0">
                <a:solidFill>
                  <a:srgbClr val="465469"/>
                </a:solidFill>
                <a:latin typeface="Tahoma"/>
                <a:cs typeface="Tahoma"/>
              </a:rPr>
              <a:t>: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210" dirty="0">
                <a:solidFill>
                  <a:srgbClr val="465469"/>
                </a:solidFill>
                <a:latin typeface="Tahoma"/>
                <a:cs typeface="Tahoma"/>
              </a:rPr>
              <a:t>A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75" dirty="0">
                <a:solidFill>
                  <a:srgbClr val="465469"/>
                </a:solidFill>
                <a:latin typeface="Tahoma"/>
                <a:cs typeface="Tahoma"/>
              </a:rPr>
              <a:t>fun</a:t>
            </a:r>
            <a:r>
              <a:rPr sz="2700" spc="-8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55" dirty="0">
                <a:solidFill>
                  <a:srgbClr val="465469"/>
                </a:solidFill>
                <a:latin typeface="Tahoma"/>
                <a:cs typeface="Tahoma"/>
              </a:rPr>
              <a:t>learning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game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designed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dirty="0">
                <a:solidFill>
                  <a:srgbClr val="465469"/>
                </a:solidFill>
                <a:latin typeface="Tahoma"/>
                <a:cs typeface="Tahoma"/>
              </a:rPr>
              <a:t>to</a:t>
            </a:r>
            <a:r>
              <a:rPr sz="2700" spc="-8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60" dirty="0">
                <a:solidFill>
                  <a:srgbClr val="465469"/>
                </a:solidFill>
                <a:latin typeface="Tahoma"/>
                <a:cs typeface="Tahoma"/>
              </a:rPr>
              <a:t>teach </a:t>
            </a:r>
            <a:r>
              <a:rPr sz="2700" spc="105" dirty="0">
                <a:solidFill>
                  <a:srgbClr val="465469"/>
                </a:solidFill>
                <a:latin typeface="Tahoma"/>
                <a:cs typeface="Tahoma"/>
              </a:rPr>
              <a:t>correct</a:t>
            </a:r>
            <a:r>
              <a:rPr sz="2700" spc="-100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waste</a:t>
            </a:r>
            <a:r>
              <a:rPr sz="2700" spc="-95" dirty="0">
                <a:solidFill>
                  <a:srgbClr val="465469"/>
                </a:solidFill>
                <a:latin typeface="Tahoma"/>
                <a:cs typeface="Tahoma"/>
              </a:rPr>
              <a:t> </a:t>
            </a:r>
            <a:r>
              <a:rPr sz="2700" spc="95" dirty="0">
                <a:solidFill>
                  <a:srgbClr val="465469"/>
                </a:solidFill>
                <a:latin typeface="Tahoma"/>
                <a:cs typeface="Tahoma"/>
              </a:rPr>
              <a:t>disposal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2980" rIns="0" bIns="0" rtlCol="0">
            <a:spAutoFit/>
          </a:bodyPr>
          <a:lstStyle/>
          <a:p>
            <a:pPr marL="4676140">
              <a:lnSpc>
                <a:spcPct val="100000"/>
              </a:lnSpc>
              <a:spcBef>
                <a:spcPts val="100"/>
              </a:spcBef>
            </a:pPr>
            <a:r>
              <a:rPr sz="5000" b="1" dirty="0">
                <a:latin typeface="Arial"/>
                <a:cs typeface="Arial"/>
              </a:rPr>
              <a:t>Executive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dirty="0">
                <a:latin typeface="Arial"/>
                <a:cs typeface="Arial"/>
              </a:rPr>
              <a:t>Project</a:t>
            </a:r>
            <a:r>
              <a:rPr sz="5000" b="1" spc="-85" dirty="0">
                <a:latin typeface="Arial"/>
                <a:cs typeface="Arial"/>
              </a:rPr>
              <a:t> </a:t>
            </a:r>
            <a:r>
              <a:rPr sz="5000" b="1" spc="-10" dirty="0">
                <a:latin typeface="Arial"/>
                <a:cs typeface="Arial"/>
              </a:rPr>
              <a:t>Overview</a:t>
            </a:r>
            <a:endParaRPr sz="5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48634" y="2593280"/>
            <a:ext cx="13801725" cy="5100955"/>
          </a:xfrm>
          <a:custGeom>
            <a:avLst/>
            <a:gdLst/>
            <a:ahLst/>
            <a:cxnLst/>
            <a:rect l="l" t="t" r="r" b="b"/>
            <a:pathLst>
              <a:path w="13801725" h="5100955">
                <a:moveTo>
                  <a:pt x="13801183" y="5100439"/>
                </a:moveTo>
                <a:lnTo>
                  <a:pt x="0" y="5100439"/>
                </a:lnTo>
                <a:lnTo>
                  <a:pt x="0" y="0"/>
                </a:lnTo>
                <a:lnTo>
                  <a:pt x="13801183" y="0"/>
                </a:lnTo>
                <a:lnTo>
                  <a:pt x="13801183" y="5100439"/>
                </a:lnTo>
                <a:close/>
              </a:path>
            </a:pathLst>
          </a:custGeom>
          <a:solidFill>
            <a:srgbClr val="28AE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80506" y="2667063"/>
            <a:ext cx="12334240" cy="439928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862330">
              <a:lnSpc>
                <a:spcPts val="3829"/>
              </a:lnSpc>
              <a:spcBef>
                <a:spcPts val="235"/>
              </a:spcBef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educational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website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focused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on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environmental awareness.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It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teaches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how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correctly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dispose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different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types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waste.</a:t>
            </a:r>
            <a:endParaRPr sz="3200">
              <a:latin typeface="Arial MT"/>
              <a:cs typeface="Arial MT"/>
            </a:endParaRPr>
          </a:p>
          <a:p>
            <a:pPr marL="12700" marR="953135">
              <a:lnSpc>
                <a:spcPts val="3829"/>
              </a:lnSpc>
              <a:spcBef>
                <a:spcPts val="125"/>
              </a:spcBef>
            </a:pPr>
            <a:r>
              <a:rPr sz="3200" dirty="0">
                <a:latin typeface="Arial MT"/>
                <a:cs typeface="Arial MT"/>
              </a:rPr>
              <a:t>Through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games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challenges,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users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identify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waste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items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and </a:t>
            </a:r>
            <a:r>
              <a:rPr sz="3200" dirty="0">
                <a:latin typeface="Arial MT"/>
                <a:cs typeface="Arial MT"/>
              </a:rPr>
              <a:t>classify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them.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ts val="3685"/>
              </a:lnSpc>
            </a:pP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platform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provides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interactive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simple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learning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experience.</a:t>
            </a:r>
            <a:endParaRPr sz="3200">
              <a:latin typeface="Arial MT"/>
              <a:cs typeface="Arial MT"/>
            </a:endParaRPr>
          </a:p>
          <a:p>
            <a:pPr marL="12700" marR="366395">
              <a:lnSpc>
                <a:spcPts val="3829"/>
              </a:lnSpc>
              <a:spcBef>
                <a:spcPts val="95"/>
              </a:spcBef>
            </a:pPr>
            <a:r>
              <a:rPr sz="3200" dirty="0">
                <a:latin typeface="Arial MT"/>
                <a:cs typeface="Arial MT"/>
              </a:rPr>
              <a:t>Visual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dynamic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activities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make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recycling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easier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understand.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goal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encourage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participation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responsible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disposal practices.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47756" y="826252"/>
            <a:ext cx="15793085" cy="762000"/>
            <a:chOff x="1247756" y="826252"/>
            <a:chExt cx="15793085" cy="76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2537" y="831033"/>
              <a:ext cx="15782923" cy="75244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52537" y="831033"/>
              <a:ext cx="15782925" cy="752475"/>
            </a:xfrm>
            <a:custGeom>
              <a:avLst/>
              <a:gdLst/>
              <a:ahLst/>
              <a:cxnLst/>
              <a:rect l="l" t="t" r="r" b="b"/>
              <a:pathLst>
                <a:path w="15782925" h="752475">
                  <a:moveTo>
                    <a:pt x="0" y="0"/>
                  </a:moveTo>
                  <a:lnTo>
                    <a:pt x="15782923" y="0"/>
                  </a:lnTo>
                  <a:lnTo>
                    <a:pt x="15782923" y="752444"/>
                  </a:lnTo>
                  <a:lnTo>
                    <a:pt x="0" y="752444"/>
                  </a:lnTo>
                  <a:lnTo>
                    <a:pt x="0" y="0"/>
                  </a:lnTo>
                  <a:close/>
                </a:path>
              </a:pathLst>
            </a:custGeom>
            <a:ln w="9560">
              <a:solidFill>
                <a:srgbClr val="28AE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1313" rIns="0" bIns="0" rtlCol="0">
            <a:spAutoFit/>
          </a:bodyPr>
          <a:lstStyle/>
          <a:p>
            <a:pPr marL="4034790">
              <a:lnSpc>
                <a:spcPct val="100000"/>
              </a:lnSpc>
              <a:spcBef>
                <a:spcPts val="120"/>
              </a:spcBef>
            </a:pP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70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70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7000" b="1" spc="-10" dirty="0">
                <a:solidFill>
                  <a:srgbClr val="FFFFFF"/>
                </a:solidFill>
                <a:latin typeface="Arial"/>
                <a:cs typeface="Arial"/>
              </a:rPr>
              <a:t>lacunes</a:t>
            </a:r>
            <a:endParaRPr sz="7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950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5"/>
              </a:spcBef>
            </a:pPr>
            <a:endParaRPr sz="2250">
              <a:latin typeface="Times New Roman"/>
              <a:cs typeface="Times New Roman"/>
            </a:endParaRPr>
          </a:p>
          <a:p>
            <a:pPr marL="176530" marR="168910" indent="-635" algn="ctr">
              <a:lnSpc>
                <a:spcPts val="2400"/>
              </a:lnSpc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1 Discarte incorreto de lixo: O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jogo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ensina o jogador a identificar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separar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corretamente os resíduos,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colocando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cada material na lixeira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adequada.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5217" y="6293834"/>
            <a:ext cx="5293995" cy="1045844"/>
            <a:chOff x="445217" y="6293834"/>
            <a:chExt cx="5293995" cy="1045844"/>
          </a:xfrm>
        </p:grpSpPr>
        <p:sp>
          <p:nvSpPr>
            <p:cNvPr id="8" name="object 8"/>
            <p:cNvSpPr/>
            <p:nvPr/>
          </p:nvSpPr>
          <p:spPr>
            <a:xfrm>
              <a:off x="464000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4267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15087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49530" marR="42545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2 Falta de concintização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sobre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reciclagem: O jogo transforma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reciclagem em uma experiência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divertida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e interativa, ajudando o jogador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aprender a importância de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reciclar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415353" y="6293834"/>
            <a:ext cx="5293995" cy="1045844"/>
            <a:chOff x="6415353" y="6293834"/>
            <a:chExt cx="5293995" cy="1045844"/>
          </a:xfrm>
        </p:grpSpPr>
        <p:sp>
          <p:nvSpPr>
            <p:cNvPr id="12" name="object 12"/>
            <p:cNvSpPr/>
            <p:nvPr/>
          </p:nvSpPr>
          <p:spPr>
            <a:xfrm>
              <a:off x="6434137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34403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5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385232" y="4218840"/>
            <a:ext cx="5293995" cy="2113280"/>
          </a:xfrm>
          <a:prstGeom prst="rect">
            <a:avLst/>
          </a:prstGeom>
          <a:solidFill>
            <a:srgbClr val="28AE6F"/>
          </a:solidFill>
        </p:spPr>
        <p:txBody>
          <a:bodyPr vert="horz" wrap="square" lIns="0" tIns="299085" rIns="0" bIns="0" rtlCol="0">
            <a:spAutoFit/>
          </a:bodyPr>
          <a:lstStyle/>
          <a:p>
            <a:pPr marL="176530" marR="168910" algn="ctr">
              <a:lnSpc>
                <a:spcPts val="2400"/>
              </a:lnSpc>
              <a:spcBef>
                <a:spcPts val="2355"/>
              </a:spcBef>
            </a:pP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3 Excesso de residuos enviandos </a:t>
            </a:r>
            <a:r>
              <a:rPr sz="2250" spc="-20" dirty="0">
                <a:solidFill>
                  <a:srgbClr val="FFFFFF"/>
                </a:solidFill>
                <a:latin typeface="Arial MT"/>
                <a:cs typeface="Arial MT"/>
              </a:rPr>
              <a:t>para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aterros/ lixões: O jogo incentiva </a:t>
            </a:r>
            <a:r>
              <a:rPr sz="225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separação correta  evitando o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acumolo </a:t>
            </a:r>
            <a:r>
              <a:rPr sz="2250" dirty="0">
                <a:solidFill>
                  <a:srgbClr val="FFFFFF"/>
                </a:solidFill>
                <a:latin typeface="Arial MT"/>
                <a:cs typeface="Arial MT"/>
              </a:rPr>
              <a:t>de residuos  em lixões e </a:t>
            </a:r>
            <a:r>
              <a:rPr sz="2250" spc="-10" dirty="0">
                <a:solidFill>
                  <a:srgbClr val="FFFFFF"/>
                </a:solidFill>
                <a:latin typeface="Arial MT"/>
                <a:cs typeface="Arial MT"/>
              </a:rPr>
              <a:t>aterros sanitarios</a:t>
            </a:r>
            <a:endParaRPr sz="22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2385499" y="6293834"/>
            <a:ext cx="5293995" cy="1045844"/>
            <a:chOff x="12385499" y="6293834"/>
            <a:chExt cx="5293995" cy="1045844"/>
          </a:xfrm>
        </p:grpSpPr>
        <p:sp>
          <p:nvSpPr>
            <p:cNvPr id="16" name="object 16"/>
            <p:cNvSpPr/>
            <p:nvPr/>
          </p:nvSpPr>
          <p:spPr>
            <a:xfrm>
              <a:off x="12404282" y="6312883"/>
              <a:ext cx="5257165" cy="1007744"/>
            </a:xfrm>
            <a:custGeom>
              <a:avLst/>
              <a:gdLst/>
              <a:ahLst/>
              <a:cxnLst/>
              <a:rect l="l" t="t" r="r" b="b"/>
              <a:pathLst>
                <a:path w="5257165" h="1007745">
                  <a:moveTo>
                    <a:pt x="5256584" y="1007249"/>
                  </a:moveTo>
                  <a:lnTo>
                    <a:pt x="0" y="1007249"/>
                  </a:lnTo>
                  <a:lnTo>
                    <a:pt x="0" y="0"/>
                  </a:lnTo>
                  <a:lnTo>
                    <a:pt x="5256584" y="0"/>
                  </a:lnTo>
                  <a:lnTo>
                    <a:pt x="5256584" y="1007249"/>
                  </a:lnTo>
                  <a:close/>
                </a:path>
              </a:pathLst>
            </a:custGeom>
            <a:solidFill>
              <a:srgbClr val="CCE3D5">
                <a:alpha val="8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404549" y="6312884"/>
              <a:ext cx="5255895" cy="1007744"/>
            </a:xfrm>
            <a:custGeom>
              <a:avLst/>
              <a:gdLst/>
              <a:ahLst/>
              <a:cxnLst/>
              <a:rect l="l" t="t" r="r" b="b"/>
              <a:pathLst>
                <a:path w="5255894" h="1007745">
                  <a:moveTo>
                    <a:pt x="0" y="0"/>
                  </a:moveTo>
                  <a:lnTo>
                    <a:pt x="5255312" y="0"/>
                  </a:lnTo>
                  <a:lnTo>
                    <a:pt x="5255312" y="1007138"/>
                  </a:lnTo>
                  <a:lnTo>
                    <a:pt x="0" y="1007138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CCE3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3385" rIns="0" bIns="0" rtlCol="0">
            <a:spAutoFit/>
          </a:bodyPr>
          <a:lstStyle/>
          <a:p>
            <a:pPr marL="4107815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OBJETIVOS </a:t>
            </a:r>
            <a:r>
              <a:rPr sz="5400" b="1" spc="-10" dirty="0">
                <a:latin typeface="Arial"/>
                <a:cs typeface="Arial"/>
              </a:rPr>
              <a:t>ESTRATÈGICOS</a:t>
            </a:r>
            <a:endParaRPr sz="5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059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60" h="3649345">
                <a:moveTo>
                  <a:pt x="4838871" y="3648839"/>
                </a:moveTo>
                <a:lnTo>
                  <a:pt x="161925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69" y="47426"/>
                </a:lnTo>
                <a:lnTo>
                  <a:pt x="4988470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0" y="3548880"/>
                </a:lnTo>
                <a:lnTo>
                  <a:pt x="4953369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3601" y="2362430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1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1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6" y="161924"/>
                </a:lnTo>
                <a:lnTo>
                  <a:pt x="5000796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1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628792" y="2434838"/>
            <a:ext cx="5001260" cy="3649345"/>
          </a:xfrm>
          <a:custGeom>
            <a:avLst/>
            <a:gdLst/>
            <a:ahLst/>
            <a:cxnLst/>
            <a:rect l="l" t="t" r="r" b="b"/>
            <a:pathLst>
              <a:path w="5001259" h="3649345">
                <a:moveTo>
                  <a:pt x="4838872" y="3648839"/>
                </a:moveTo>
                <a:lnTo>
                  <a:pt x="161924" y="3648839"/>
                </a:lnTo>
                <a:lnTo>
                  <a:pt x="130187" y="3645699"/>
                </a:lnTo>
                <a:lnTo>
                  <a:pt x="72088" y="3621634"/>
                </a:lnTo>
                <a:lnTo>
                  <a:pt x="27205" y="3576750"/>
                </a:lnTo>
                <a:lnTo>
                  <a:pt x="3140" y="3518651"/>
                </a:lnTo>
                <a:lnTo>
                  <a:pt x="0" y="3486914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4" y="0"/>
                </a:lnTo>
                <a:lnTo>
                  <a:pt x="4838872" y="0"/>
                </a:lnTo>
                <a:lnTo>
                  <a:pt x="4900837" y="12325"/>
                </a:lnTo>
                <a:lnTo>
                  <a:pt x="4953370" y="47426"/>
                </a:lnTo>
                <a:lnTo>
                  <a:pt x="4988471" y="99959"/>
                </a:lnTo>
                <a:lnTo>
                  <a:pt x="5000797" y="161924"/>
                </a:lnTo>
                <a:lnTo>
                  <a:pt x="5000797" y="3486914"/>
                </a:lnTo>
                <a:lnTo>
                  <a:pt x="4988471" y="3548880"/>
                </a:lnTo>
                <a:lnTo>
                  <a:pt x="4953370" y="3601412"/>
                </a:lnTo>
                <a:lnTo>
                  <a:pt x="4900837" y="3636513"/>
                </a:lnTo>
                <a:lnTo>
                  <a:pt x="4838872" y="3648839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150530" y="2680877"/>
            <a:ext cx="3933190" cy="28943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2710" algn="just">
              <a:lnSpc>
                <a:spcPts val="3229"/>
              </a:lnSpc>
              <a:spcBef>
                <a:spcPts val="215"/>
              </a:spcBef>
            </a:pPr>
            <a:r>
              <a:rPr sz="2650" spc="-185" dirty="0">
                <a:solidFill>
                  <a:srgbClr val="FFFFFF"/>
                </a:solidFill>
                <a:latin typeface="Segoe UI Emoji"/>
                <a:cs typeface="Segoe UI Emoji"/>
              </a:rPr>
              <a:t>🎮</a:t>
            </a:r>
            <a:r>
              <a:rPr sz="2650" spc="-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Experiência Interativa </a:t>
            </a:r>
            <a:r>
              <a:rPr sz="2700" spc="-15" dirty="0">
                <a:solidFill>
                  <a:srgbClr val="FFFFFF"/>
                </a:solidFill>
                <a:latin typeface="Arial MT"/>
                <a:cs typeface="Arial MT"/>
              </a:rPr>
              <a:t>Criar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um jogo divertido e dinâmico,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com desafios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que</a:t>
            </a:r>
            <a:endParaRPr sz="2700">
              <a:latin typeface="Arial MT"/>
              <a:cs typeface="Arial MT"/>
            </a:endParaRPr>
          </a:p>
          <a:p>
            <a:pPr marL="12700" algn="just">
              <a:lnSpc>
                <a:spcPts val="3225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estimulem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endParaRPr sz="2700">
              <a:latin typeface="Arial MT"/>
              <a:cs typeface="Arial MT"/>
            </a:endParaRPr>
          </a:p>
          <a:p>
            <a:pPr marL="12700" marR="5080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participação e 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interesse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dos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jogadores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5339" y="2771263"/>
            <a:ext cx="3761104" cy="25330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0">
              <a:lnSpc>
                <a:spcPts val="3615"/>
              </a:lnSpc>
              <a:spcBef>
                <a:spcPts val="125"/>
              </a:spcBef>
            </a:pPr>
            <a:r>
              <a:rPr sz="3050" spc="-425" dirty="0">
                <a:solidFill>
                  <a:srgbClr val="FFFFFF"/>
                </a:solidFill>
                <a:latin typeface="Segoe UI Emoji"/>
                <a:cs typeface="Segoe UI Emoji"/>
              </a:rPr>
              <a:t>♻</a:t>
            </a:r>
            <a:r>
              <a:rPr sz="3050" spc="-185" dirty="0">
                <a:solidFill>
                  <a:srgbClr val="FFFFFF"/>
                </a:solidFill>
                <a:latin typeface="Segoe UI Emoji"/>
                <a:cs typeface="Segoe UI Emoji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Consciência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3229"/>
              </a:lnSpc>
              <a:spcBef>
                <a:spcPts val="50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Ambiental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Incentivar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crianças e jovens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separar corretamente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resíduos e cuidar </a:t>
            </a:r>
            <a:r>
              <a:rPr sz="2700" spc="-25" dirty="0">
                <a:solidFill>
                  <a:srgbClr val="FFFFFF"/>
                </a:solidFill>
                <a:latin typeface="Arial MT"/>
                <a:cs typeface="Arial MT"/>
              </a:rPr>
              <a:t>do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meio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ambiente.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9159" y="2806312"/>
            <a:ext cx="4017010" cy="2907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95250">
              <a:lnSpc>
                <a:spcPts val="3229"/>
              </a:lnSpc>
              <a:spcBef>
                <a:spcPts val="315"/>
              </a:spcBef>
            </a:pPr>
            <a:r>
              <a:rPr sz="2800" spc="-35" dirty="0">
                <a:solidFill>
                  <a:srgbClr val="FFFFFF"/>
                </a:solidFill>
                <a:latin typeface="Segoe UI Emoji"/>
                <a:cs typeface="Segoe UI Emoji"/>
              </a:rPr>
              <a:t>🧠</a:t>
            </a:r>
            <a:r>
              <a:rPr sz="2700" spc="-35" dirty="0">
                <a:solidFill>
                  <a:srgbClr val="FFFFFF"/>
                </a:solidFill>
                <a:latin typeface="Arial MT"/>
                <a:cs typeface="Arial MT"/>
              </a:rPr>
              <a:t>Aprendizado</a:t>
            </a:r>
            <a:r>
              <a:rPr sz="27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Divertido: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Ensinar sobre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reciclagem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de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forma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ts val="3100"/>
              </a:lnSpc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simples e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divertida,</a:t>
            </a:r>
            <a:endParaRPr sz="2700">
              <a:latin typeface="Arial MT"/>
              <a:cs typeface="Arial MT"/>
            </a:endParaRPr>
          </a:p>
          <a:p>
            <a:pPr marL="12700" marR="1403985" algn="just">
              <a:lnSpc>
                <a:spcPts val="3229"/>
              </a:lnSpc>
              <a:spcBef>
                <a:spcPts val="95"/>
              </a:spcBef>
            </a:pP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usando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desafios </a:t>
            </a:r>
            <a:r>
              <a:rPr sz="2700" dirty="0">
                <a:solidFill>
                  <a:srgbClr val="FFFFFF"/>
                </a:solidFill>
                <a:latin typeface="Arial MT"/>
                <a:cs typeface="Arial MT"/>
              </a:rPr>
              <a:t>que incentivem </a:t>
            </a:r>
            <a:r>
              <a:rPr sz="2700" spc="-50" dirty="0">
                <a:solidFill>
                  <a:srgbClr val="FFFFFF"/>
                </a:solidFill>
                <a:latin typeface="Arial MT"/>
                <a:cs typeface="Arial MT"/>
              </a:rPr>
              <a:t>o </a:t>
            </a:r>
            <a:r>
              <a:rPr sz="2700" spc="-10" dirty="0">
                <a:solidFill>
                  <a:srgbClr val="FFFFFF"/>
                </a:solidFill>
                <a:latin typeface="Arial MT"/>
                <a:cs typeface="Arial MT"/>
              </a:rPr>
              <a:t>aprendizado.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3059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643600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628791" y="6011269"/>
            <a:ext cx="5000625" cy="925830"/>
          </a:xfrm>
          <a:custGeom>
            <a:avLst/>
            <a:gdLst/>
            <a:ahLst/>
            <a:cxnLst/>
            <a:rect l="l" t="t" r="r" b="b"/>
            <a:pathLst>
              <a:path w="5000625" h="925829">
                <a:moveTo>
                  <a:pt x="5000074" y="925537"/>
                </a:moveTo>
                <a:lnTo>
                  <a:pt x="0" y="925537"/>
                </a:lnTo>
                <a:lnTo>
                  <a:pt x="0" y="0"/>
                </a:lnTo>
                <a:lnTo>
                  <a:pt x="5000074" y="0"/>
                </a:lnTo>
                <a:lnTo>
                  <a:pt x="5000074" y="925537"/>
                </a:lnTo>
                <a:close/>
              </a:path>
            </a:pathLst>
          </a:custGeom>
          <a:solidFill>
            <a:srgbClr val="CCE3D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80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Arial"/>
                <a:cs typeface="Arial"/>
              </a:rPr>
              <a:t>Personas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do</a:t>
            </a:r>
            <a:r>
              <a:rPr sz="5400" b="1" spc="-35" dirty="0">
                <a:latin typeface="Arial"/>
                <a:cs typeface="Arial"/>
              </a:rPr>
              <a:t> </a:t>
            </a:r>
            <a:r>
              <a:rPr sz="5400" b="1" dirty="0">
                <a:latin typeface="Arial"/>
                <a:cs typeface="Arial"/>
              </a:rPr>
              <a:t>Publico-</a:t>
            </a:r>
            <a:r>
              <a:rPr sz="5400" b="1" spc="-20" dirty="0">
                <a:latin typeface="Arial"/>
                <a:cs typeface="Arial"/>
              </a:rPr>
              <a:t>Alvo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163144"/>
            <a:ext cx="11146155" cy="4147820"/>
            <a:chOff x="0" y="2163144"/>
            <a:chExt cx="11146155" cy="4147820"/>
          </a:xfrm>
        </p:grpSpPr>
        <p:sp>
          <p:nvSpPr>
            <p:cNvPr id="4" name="object 4"/>
            <p:cNvSpPr/>
            <p:nvPr/>
          </p:nvSpPr>
          <p:spPr>
            <a:xfrm>
              <a:off x="0" y="2163144"/>
              <a:ext cx="11146155" cy="4147820"/>
            </a:xfrm>
            <a:custGeom>
              <a:avLst/>
              <a:gdLst/>
              <a:ahLst/>
              <a:cxnLst/>
              <a:rect l="l" t="t" r="r" b="b"/>
              <a:pathLst>
                <a:path w="11146155" h="4147820">
                  <a:moveTo>
                    <a:pt x="10983847" y="4147342"/>
                  </a:moveTo>
                  <a:lnTo>
                    <a:pt x="161925" y="4147342"/>
                  </a:lnTo>
                  <a:lnTo>
                    <a:pt x="130187" y="4144201"/>
                  </a:lnTo>
                  <a:lnTo>
                    <a:pt x="72088" y="4120136"/>
                  </a:lnTo>
                  <a:lnTo>
                    <a:pt x="27205" y="4075252"/>
                  </a:lnTo>
                  <a:lnTo>
                    <a:pt x="3140" y="4017154"/>
                  </a:lnTo>
                  <a:lnTo>
                    <a:pt x="0" y="3985416"/>
                  </a:lnTo>
                  <a:lnTo>
                    <a:pt x="0" y="161925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10983847" y="0"/>
                  </a:lnTo>
                  <a:lnTo>
                    <a:pt x="11045813" y="12325"/>
                  </a:lnTo>
                  <a:lnTo>
                    <a:pt x="11098346" y="47426"/>
                  </a:lnTo>
                  <a:lnTo>
                    <a:pt x="11133447" y="99959"/>
                  </a:lnTo>
                  <a:lnTo>
                    <a:pt x="11145773" y="161925"/>
                  </a:lnTo>
                  <a:lnTo>
                    <a:pt x="11145773" y="3985416"/>
                  </a:lnTo>
                  <a:lnTo>
                    <a:pt x="11133447" y="4047382"/>
                  </a:lnTo>
                  <a:lnTo>
                    <a:pt x="11098346" y="4099915"/>
                  </a:lnTo>
                  <a:lnTo>
                    <a:pt x="11045813" y="4135016"/>
                  </a:lnTo>
                  <a:lnTo>
                    <a:pt x="10983847" y="4147342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2895651"/>
              <a:ext cx="114300" cy="1142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3486201"/>
              <a:ext cx="114300" cy="1142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791" y="4667302"/>
              <a:ext cx="114300" cy="1142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24841" y="2530526"/>
            <a:ext cx="10318115" cy="2978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Crianças: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aprender sobre reciclagem de forma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divertida. </a:t>
            </a: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Jovens e adolescentes: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desenvolver consciência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ambiental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através de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desafios.</a:t>
            </a:r>
            <a:endParaRPr sz="3000">
              <a:latin typeface="Arial MT"/>
              <a:cs typeface="Arial MT"/>
            </a:endParaRPr>
          </a:p>
          <a:p>
            <a:pPr marL="12700" marR="661670">
              <a:lnSpc>
                <a:spcPts val="4650"/>
              </a:lnSpc>
              <a:spcBef>
                <a:spcPts val="130"/>
              </a:spcBef>
            </a:pPr>
            <a:r>
              <a:rPr sz="3000" b="1" dirty="0">
                <a:solidFill>
                  <a:srgbClr val="0D0D0D"/>
                </a:solidFill>
                <a:latin typeface="Arial"/>
                <a:cs typeface="Arial"/>
              </a:rPr>
              <a:t>Escolas e educadores: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usar o jogo como ferramenta </a:t>
            </a:r>
            <a:r>
              <a:rPr sz="3000" spc="-25" dirty="0">
                <a:solidFill>
                  <a:srgbClr val="0D0D0D"/>
                </a:solidFill>
                <a:latin typeface="Arial MT"/>
                <a:cs typeface="Arial MT"/>
              </a:rPr>
              <a:t>de </a:t>
            </a:r>
            <a:r>
              <a:rPr sz="3000" dirty="0">
                <a:solidFill>
                  <a:srgbClr val="0D0D0D"/>
                </a:solidFill>
                <a:latin typeface="Arial MT"/>
                <a:cs typeface="Arial MT"/>
              </a:rPr>
              <a:t>ensino sobre </a:t>
            </a:r>
            <a:r>
              <a:rPr sz="3000" spc="-10" dirty="0">
                <a:solidFill>
                  <a:srgbClr val="0D0D0D"/>
                </a:solidFill>
                <a:latin typeface="Arial MT"/>
                <a:cs typeface="Arial MT"/>
              </a:rPr>
              <a:t>reciclagem.</a:t>
            </a:r>
            <a:endParaRPr sz="30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18288000" cy="10154920"/>
            <a:chOff x="0" y="0"/>
            <a:chExt cx="18288000" cy="10154920"/>
          </a:xfrm>
        </p:grpSpPr>
        <p:sp>
          <p:nvSpPr>
            <p:cNvPr id="10" name="object 10"/>
            <p:cNvSpPr/>
            <p:nvPr/>
          </p:nvSpPr>
          <p:spPr>
            <a:xfrm>
              <a:off x="0" y="6310486"/>
              <a:ext cx="11301095" cy="939800"/>
            </a:xfrm>
            <a:custGeom>
              <a:avLst/>
              <a:gdLst/>
              <a:ahLst/>
              <a:cxnLst/>
              <a:rect l="l" t="t" r="r" b="b"/>
              <a:pathLst>
                <a:path w="11301095" h="939800">
                  <a:moveTo>
                    <a:pt x="11300790" y="939591"/>
                  </a:moveTo>
                  <a:lnTo>
                    <a:pt x="0" y="939591"/>
                  </a:lnTo>
                  <a:lnTo>
                    <a:pt x="0" y="0"/>
                  </a:lnTo>
                  <a:lnTo>
                    <a:pt x="11300790" y="0"/>
                  </a:lnTo>
                  <a:lnTo>
                    <a:pt x="11300790" y="939591"/>
                  </a:lnTo>
                  <a:close/>
                </a:path>
              </a:pathLst>
            </a:custGeom>
            <a:solidFill>
              <a:srgbClr val="CCE3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51155" y="0"/>
              <a:ext cx="7037070" cy="10002520"/>
            </a:xfrm>
            <a:custGeom>
              <a:avLst/>
              <a:gdLst/>
              <a:ahLst/>
              <a:cxnLst/>
              <a:rect l="l" t="t" r="r" b="b"/>
              <a:pathLst>
                <a:path w="7037069" h="10002520">
                  <a:moveTo>
                    <a:pt x="6851782" y="10002272"/>
                  </a:moveTo>
                  <a:lnTo>
                    <a:pt x="500867" y="10002272"/>
                  </a:lnTo>
                  <a:lnTo>
                    <a:pt x="452546" y="9999985"/>
                  </a:lnTo>
                  <a:lnTo>
                    <a:pt x="405542" y="9993260"/>
                  </a:lnTo>
                  <a:lnTo>
                    <a:pt x="360064" y="9982308"/>
                  </a:lnTo>
                  <a:lnTo>
                    <a:pt x="316320" y="9967334"/>
                  </a:lnTo>
                  <a:lnTo>
                    <a:pt x="274517" y="9948548"/>
                  </a:lnTo>
                  <a:lnTo>
                    <a:pt x="234864" y="9926157"/>
                  </a:lnTo>
                  <a:lnTo>
                    <a:pt x="197568" y="9900370"/>
                  </a:lnTo>
                  <a:lnTo>
                    <a:pt x="162837" y="9871393"/>
                  </a:lnTo>
                  <a:lnTo>
                    <a:pt x="130879" y="9839435"/>
                  </a:lnTo>
                  <a:lnTo>
                    <a:pt x="101902" y="9804704"/>
                  </a:lnTo>
                  <a:lnTo>
                    <a:pt x="76114" y="9767408"/>
                  </a:lnTo>
                  <a:lnTo>
                    <a:pt x="53723" y="9727754"/>
                  </a:lnTo>
                  <a:lnTo>
                    <a:pt x="34937" y="9685952"/>
                  </a:lnTo>
                  <a:lnTo>
                    <a:pt x="19964" y="9642207"/>
                  </a:lnTo>
                  <a:lnTo>
                    <a:pt x="9029" y="9596805"/>
                  </a:lnTo>
                  <a:lnTo>
                    <a:pt x="2305" y="9549849"/>
                  </a:lnTo>
                  <a:lnTo>
                    <a:pt x="0" y="9501405"/>
                  </a:lnTo>
                  <a:lnTo>
                    <a:pt x="0" y="303663"/>
                  </a:lnTo>
                  <a:lnTo>
                    <a:pt x="2287" y="255322"/>
                  </a:lnTo>
                  <a:lnTo>
                    <a:pt x="9011" y="208264"/>
                  </a:lnTo>
                  <a:lnTo>
                    <a:pt x="19874" y="163072"/>
                  </a:lnTo>
                  <a:lnTo>
                    <a:pt x="19964" y="162698"/>
                  </a:lnTo>
                  <a:lnTo>
                    <a:pt x="34937" y="118839"/>
                  </a:lnTo>
                  <a:lnTo>
                    <a:pt x="53723" y="76901"/>
                  </a:lnTo>
                  <a:lnTo>
                    <a:pt x="76114" y="37095"/>
                  </a:lnTo>
                  <a:lnTo>
                    <a:pt x="101650" y="0"/>
                  </a:lnTo>
                  <a:lnTo>
                    <a:pt x="175800" y="0"/>
                  </a:lnTo>
                  <a:lnTo>
                    <a:pt x="170373" y="5427"/>
                  </a:lnTo>
                  <a:lnTo>
                    <a:pt x="141525" y="40821"/>
                  </a:lnTo>
                  <a:lnTo>
                    <a:pt x="116363" y="79076"/>
                  </a:lnTo>
                  <a:lnTo>
                    <a:pt x="95160" y="119918"/>
                  </a:lnTo>
                  <a:lnTo>
                    <a:pt x="78190" y="163072"/>
                  </a:lnTo>
                  <a:lnTo>
                    <a:pt x="65730" y="208264"/>
                  </a:lnTo>
                  <a:lnTo>
                    <a:pt x="58046" y="255322"/>
                  </a:lnTo>
                  <a:lnTo>
                    <a:pt x="55432" y="303663"/>
                  </a:lnTo>
                  <a:lnTo>
                    <a:pt x="55432" y="9501405"/>
                  </a:lnTo>
                  <a:lnTo>
                    <a:pt x="58052" y="9549849"/>
                  </a:lnTo>
                  <a:lnTo>
                    <a:pt x="65730" y="9596805"/>
                  </a:lnTo>
                  <a:lnTo>
                    <a:pt x="78190" y="9641997"/>
                  </a:lnTo>
                  <a:lnTo>
                    <a:pt x="95160" y="9685151"/>
                  </a:lnTo>
                  <a:lnTo>
                    <a:pt x="116363" y="9725993"/>
                  </a:lnTo>
                  <a:lnTo>
                    <a:pt x="141525" y="9764248"/>
                  </a:lnTo>
                  <a:lnTo>
                    <a:pt x="170373" y="9799641"/>
                  </a:lnTo>
                  <a:lnTo>
                    <a:pt x="202631" y="9831899"/>
                  </a:lnTo>
                  <a:lnTo>
                    <a:pt x="238024" y="9860746"/>
                  </a:lnTo>
                  <a:lnTo>
                    <a:pt x="276279" y="9885909"/>
                  </a:lnTo>
                  <a:lnTo>
                    <a:pt x="317121" y="9907112"/>
                  </a:lnTo>
                  <a:lnTo>
                    <a:pt x="360276" y="9924081"/>
                  </a:lnTo>
                  <a:lnTo>
                    <a:pt x="405467" y="9936542"/>
                  </a:lnTo>
                  <a:lnTo>
                    <a:pt x="452423" y="9944219"/>
                  </a:lnTo>
                  <a:lnTo>
                    <a:pt x="500867" y="9946840"/>
                  </a:lnTo>
                  <a:lnTo>
                    <a:pt x="7036844" y="9946840"/>
                  </a:lnTo>
                  <a:lnTo>
                    <a:pt x="7036844" y="9967103"/>
                  </a:lnTo>
                  <a:lnTo>
                    <a:pt x="7036329" y="9967334"/>
                  </a:lnTo>
                  <a:lnTo>
                    <a:pt x="6992584" y="9982308"/>
                  </a:lnTo>
                  <a:lnTo>
                    <a:pt x="6947106" y="9993260"/>
                  </a:lnTo>
                  <a:lnTo>
                    <a:pt x="6900103" y="9999985"/>
                  </a:lnTo>
                  <a:lnTo>
                    <a:pt x="6851782" y="10002272"/>
                  </a:lnTo>
                  <a:close/>
                </a:path>
                <a:path w="7037069" h="10002520">
                  <a:moveTo>
                    <a:pt x="7036844" y="9946840"/>
                  </a:moveTo>
                  <a:lnTo>
                    <a:pt x="6851782" y="9946840"/>
                  </a:lnTo>
                  <a:lnTo>
                    <a:pt x="6900226" y="9944219"/>
                  </a:lnTo>
                  <a:lnTo>
                    <a:pt x="6947182" y="9936542"/>
                  </a:lnTo>
                  <a:lnTo>
                    <a:pt x="6992374" y="9924081"/>
                  </a:lnTo>
                  <a:lnTo>
                    <a:pt x="7035528" y="9907112"/>
                  </a:lnTo>
                  <a:lnTo>
                    <a:pt x="7036844" y="9906429"/>
                  </a:lnTo>
                  <a:lnTo>
                    <a:pt x="7036844" y="99468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1057" y="188840"/>
              <a:ext cx="6558786" cy="94161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95953" y="0"/>
              <a:ext cx="118782" cy="8193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59253" y="0"/>
              <a:ext cx="170256" cy="10767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883928" y="0"/>
              <a:ext cx="95025" cy="700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03546" y="0"/>
              <a:ext cx="6884670" cy="10154920"/>
            </a:xfrm>
            <a:custGeom>
              <a:avLst/>
              <a:gdLst/>
              <a:ahLst/>
              <a:cxnLst/>
              <a:rect l="l" t="t" r="r" b="b"/>
              <a:pathLst>
                <a:path w="6884669" h="10154920">
                  <a:moveTo>
                    <a:pt x="6884454" y="0"/>
                  </a:moveTo>
                  <a:lnTo>
                    <a:pt x="290766" y="0"/>
                  </a:lnTo>
                  <a:lnTo>
                    <a:pt x="274523" y="7366"/>
                  </a:lnTo>
                  <a:lnTo>
                    <a:pt x="234873" y="29908"/>
                  </a:lnTo>
                  <a:lnTo>
                    <a:pt x="197573" y="55854"/>
                  </a:lnTo>
                  <a:lnTo>
                    <a:pt x="162839" y="85001"/>
                  </a:lnTo>
                  <a:lnTo>
                    <a:pt x="130886" y="117132"/>
                  </a:lnTo>
                  <a:lnTo>
                    <a:pt x="101904" y="152044"/>
                  </a:lnTo>
                  <a:lnTo>
                    <a:pt x="76123" y="189496"/>
                  </a:lnTo>
                  <a:lnTo>
                    <a:pt x="66065" y="207391"/>
                  </a:lnTo>
                  <a:lnTo>
                    <a:pt x="66065" y="9750450"/>
                  </a:lnTo>
                  <a:lnTo>
                    <a:pt x="65735" y="9749206"/>
                  </a:lnTo>
                  <a:lnTo>
                    <a:pt x="58051" y="9702254"/>
                  </a:lnTo>
                  <a:lnTo>
                    <a:pt x="55435" y="9653816"/>
                  </a:lnTo>
                  <a:lnTo>
                    <a:pt x="55435" y="456069"/>
                  </a:lnTo>
                  <a:lnTo>
                    <a:pt x="58051" y="407733"/>
                  </a:lnTo>
                  <a:lnTo>
                    <a:pt x="59550" y="398551"/>
                  </a:lnTo>
                  <a:lnTo>
                    <a:pt x="57416" y="438251"/>
                  </a:lnTo>
                  <a:lnTo>
                    <a:pt x="57416" y="9665691"/>
                  </a:lnTo>
                  <a:lnTo>
                    <a:pt x="59956" y="9712922"/>
                  </a:lnTo>
                  <a:lnTo>
                    <a:pt x="66065" y="9750450"/>
                  </a:lnTo>
                  <a:lnTo>
                    <a:pt x="66065" y="207391"/>
                  </a:lnTo>
                  <a:lnTo>
                    <a:pt x="53733" y="229311"/>
                  </a:lnTo>
                  <a:lnTo>
                    <a:pt x="34937" y="271246"/>
                  </a:lnTo>
                  <a:lnTo>
                    <a:pt x="19964" y="315099"/>
                  </a:lnTo>
                  <a:lnTo>
                    <a:pt x="19875" y="315480"/>
                  </a:lnTo>
                  <a:lnTo>
                    <a:pt x="9017" y="360667"/>
                  </a:lnTo>
                  <a:lnTo>
                    <a:pt x="2286" y="407733"/>
                  </a:lnTo>
                  <a:lnTo>
                    <a:pt x="0" y="456069"/>
                  </a:lnTo>
                  <a:lnTo>
                    <a:pt x="0" y="9653816"/>
                  </a:lnTo>
                  <a:lnTo>
                    <a:pt x="2311" y="9702254"/>
                  </a:lnTo>
                  <a:lnTo>
                    <a:pt x="9029" y="9749206"/>
                  </a:lnTo>
                  <a:lnTo>
                    <a:pt x="19964" y="9794608"/>
                  </a:lnTo>
                  <a:lnTo>
                    <a:pt x="34937" y="9838360"/>
                  </a:lnTo>
                  <a:lnTo>
                    <a:pt x="53733" y="9880155"/>
                  </a:lnTo>
                  <a:lnTo>
                    <a:pt x="76123" y="9919818"/>
                  </a:lnTo>
                  <a:lnTo>
                    <a:pt x="101904" y="9957105"/>
                  </a:lnTo>
                  <a:lnTo>
                    <a:pt x="130886" y="9991839"/>
                  </a:lnTo>
                  <a:lnTo>
                    <a:pt x="162839" y="10023805"/>
                  </a:lnTo>
                  <a:lnTo>
                    <a:pt x="197573" y="10052774"/>
                  </a:lnTo>
                  <a:lnTo>
                    <a:pt x="234873" y="10078568"/>
                  </a:lnTo>
                  <a:lnTo>
                    <a:pt x="274523" y="10100958"/>
                  </a:lnTo>
                  <a:lnTo>
                    <a:pt x="316318" y="10119741"/>
                  </a:lnTo>
                  <a:lnTo>
                    <a:pt x="360070" y="10134714"/>
                  </a:lnTo>
                  <a:lnTo>
                    <a:pt x="405549" y="10145662"/>
                  </a:lnTo>
                  <a:lnTo>
                    <a:pt x="452551" y="10152393"/>
                  </a:lnTo>
                  <a:lnTo>
                    <a:pt x="500875" y="10154679"/>
                  </a:lnTo>
                  <a:lnTo>
                    <a:pt x="6851790" y="10154679"/>
                  </a:lnTo>
                  <a:lnTo>
                    <a:pt x="6884454" y="10153129"/>
                  </a:lnTo>
                  <a:lnTo>
                    <a:pt x="6884454" y="10099243"/>
                  </a:lnTo>
                  <a:lnTo>
                    <a:pt x="6884454" y="10097478"/>
                  </a:lnTo>
                  <a:lnTo>
                    <a:pt x="6851790" y="10099243"/>
                  </a:lnTo>
                  <a:lnTo>
                    <a:pt x="500875" y="10099243"/>
                  </a:lnTo>
                  <a:lnTo>
                    <a:pt x="452424" y="10096627"/>
                  </a:lnTo>
                  <a:lnTo>
                    <a:pt x="405472" y="10088943"/>
                  </a:lnTo>
                  <a:lnTo>
                    <a:pt x="404215" y="10088601"/>
                  </a:lnTo>
                  <a:lnTo>
                    <a:pt x="442099" y="10094747"/>
                  </a:lnTo>
                  <a:lnTo>
                    <a:pt x="488988" y="10097262"/>
                  </a:lnTo>
                  <a:lnTo>
                    <a:pt x="6867626" y="10097262"/>
                  </a:lnTo>
                  <a:lnTo>
                    <a:pt x="6884454" y="10096360"/>
                  </a:lnTo>
                  <a:lnTo>
                    <a:pt x="6884454" y="9762693"/>
                  </a:lnTo>
                  <a:lnTo>
                    <a:pt x="6884454" y="9735807"/>
                  </a:lnTo>
                  <a:lnTo>
                    <a:pt x="6848259" y="9754591"/>
                  </a:lnTo>
                  <a:lnTo>
                    <a:pt x="6798335" y="9762693"/>
                  </a:lnTo>
                  <a:lnTo>
                    <a:pt x="558279" y="9762693"/>
                  </a:lnTo>
                  <a:lnTo>
                    <a:pt x="508368" y="9754591"/>
                  </a:lnTo>
                  <a:lnTo>
                    <a:pt x="464908" y="9732035"/>
                  </a:lnTo>
                  <a:lnTo>
                    <a:pt x="430568" y="9697695"/>
                  </a:lnTo>
                  <a:lnTo>
                    <a:pt x="408012" y="9654235"/>
                  </a:lnTo>
                  <a:lnTo>
                    <a:pt x="399910" y="9604324"/>
                  </a:lnTo>
                  <a:lnTo>
                    <a:pt x="399910" y="499618"/>
                  </a:lnTo>
                  <a:lnTo>
                    <a:pt x="408012" y="449707"/>
                  </a:lnTo>
                  <a:lnTo>
                    <a:pt x="430568" y="406247"/>
                  </a:lnTo>
                  <a:lnTo>
                    <a:pt x="464908" y="371906"/>
                  </a:lnTo>
                  <a:lnTo>
                    <a:pt x="508368" y="349351"/>
                  </a:lnTo>
                  <a:lnTo>
                    <a:pt x="558279" y="341249"/>
                  </a:lnTo>
                  <a:lnTo>
                    <a:pt x="6800316" y="341249"/>
                  </a:lnTo>
                  <a:lnTo>
                    <a:pt x="6850240" y="349351"/>
                  </a:lnTo>
                  <a:lnTo>
                    <a:pt x="6884454" y="367106"/>
                  </a:lnTo>
                  <a:lnTo>
                    <a:pt x="6884454" y="341249"/>
                  </a:lnTo>
                  <a:lnTo>
                    <a:pt x="6884454" y="12395"/>
                  </a:lnTo>
                  <a:lnTo>
                    <a:pt x="6884454" y="10629"/>
                  </a:lnTo>
                  <a:lnTo>
                    <a:pt x="6884454" y="7569"/>
                  </a:lnTo>
                  <a:lnTo>
                    <a:pt x="68844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03457" y="341240"/>
              <a:ext cx="6484542" cy="941613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448353" y="115552"/>
              <a:ext cx="118782" cy="11878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11653" y="89816"/>
              <a:ext cx="170256" cy="1702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36328" y="127430"/>
              <a:ext cx="95025" cy="950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Espaço Reservado para Conteúdo 3">
            <a:extLst>
              <a:ext uri="{FF2B5EF4-FFF2-40B4-BE49-F238E27FC236}">
                <a16:creationId xmlns:a16="http://schemas.microsoft.com/office/drawing/2014/main" id="{45BCFC10-5D0A-05BF-CCD4-84E057226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4314"/>
              </p:ext>
            </p:extLst>
          </p:nvPr>
        </p:nvGraphicFramePr>
        <p:xfrm>
          <a:off x="933450" y="1104900"/>
          <a:ext cx="164211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558" y="-317"/>
            <a:ext cx="682053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CORE USECASE </a:t>
            </a:r>
            <a:r>
              <a:rPr sz="3000" b="1" u="sng" spc="-10" dirty="0">
                <a:uFill>
                  <a:solidFill>
                    <a:srgbClr val="28AE6F"/>
                  </a:solidFill>
                </a:uFill>
                <a:latin typeface="Arial"/>
                <a:cs typeface="Arial"/>
              </a:rPr>
              <a:t>CHARACTERISTICS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7C7162-AA2A-395C-BD02-7869D8E3B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333500"/>
            <a:ext cx="7848600" cy="723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-838200" y="419100"/>
            <a:ext cx="17533741" cy="1007904"/>
          </a:xfrm>
          <a:prstGeom prst="rect">
            <a:avLst/>
          </a:prstGeom>
        </p:spPr>
        <p:txBody>
          <a:bodyPr vert="horz" wrap="square" lIns="0" tIns="403796" rIns="0" bIns="0" rtlCol="0">
            <a:spAutoFit/>
          </a:bodyPr>
          <a:lstStyle/>
          <a:p>
            <a:pPr marL="7238365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System</a:t>
            </a:r>
            <a:r>
              <a:rPr sz="3900" b="1" spc="-150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dirty="0">
                <a:solidFill>
                  <a:srgbClr val="00B050"/>
                </a:solidFill>
                <a:latin typeface="Arial"/>
                <a:cs typeface="Arial"/>
              </a:rPr>
              <a:t>Process</a:t>
            </a:r>
            <a:r>
              <a:rPr sz="3900" b="1" spc="-145" dirty="0">
                <a:solidFill>
                  <a:srgbClr val="00B050"/>
                </a:solidFill>
                <a:latin typeface="Arial"/>
                <a:cs typeface="Arial"/>
              </a:rPr>
              <a:t> </a:t>
            </a:r>
            <a:r>
              <a:rPr sz="3900" b="1" spc="-10" dirty="0">
                <a:solidFill>
                  <a:srgbClr val="00B050"/>
                </a:solidFill>
                <a:latin typeface="Arial"/>
                <a:cs typeface="Arial"/>
              </a:rPr>
              <a:t>Workflow</a:t>
            </a:r>
            <a:endParaRPr sz="3900" dirty="0">
              <a:solidFill>
                <a:srgbClr val="00B050"/>
              </a:solidFill>
              <a:latin typeface="Arial"/>
              <a:cs typeface="Arial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30073EB-6B14-E70E-94ED-361F6A56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14" y="1930070"/>
            <a:ext cx="9650172" cy="6430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92144" y="1855837"/>
            <a:ext cx="616267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00" b="1" dirty="0">
                <a:latin typeface="Arial"/>
                <a:cs typeface="Arial"/>
              </a:rPr>
              <a:t>Technology</a:t>
            </a:r>
            <a:r>
              <a:rPr sz="3900" b="1" spc="-220" dirty="0">
                <a:latin typeface="Arial"/>
                <a:cs typeface="Arial"/>
              </a:rPr>
              <a:t> </a:t>
            </a:r>
            <a:r>
              <a:rPr sz="3900" b="1" spc="-10" dirty="0">
                <a:latin typeface="Arial"/>
                <a:cs typeface="Arial"/>
              </a:rPr>
              <a:t>Infrastructure</a:t>
            </a:r>
            <a:endParaRPr sz="39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2014" y="4115752"/>
          <a:ext cx="16369029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0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67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Architectural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Core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Technology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Technical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Rationale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Deployment 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Benefit</a:t>
                      </a:r>
                      <a:endParaRPr sz="1650">
                        <a:latin typeface="Arial MT"/>
                        <a:cs typeface="Arial MT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E17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Backend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Core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3.11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Runtime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High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computational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clarity,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extensive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libraries,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8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Rapid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velocity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b="1" spc="-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Framework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StreamLit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45339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Enables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fast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development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interactive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web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applications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directly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Python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21920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Simplified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deployment</a:t>
                      </a:r>
                      <a:r>
                        <a:rPr sz="1550" spc="-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maintanance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b="1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User</a:t>
                      </a:r>
                      <a:r>
                        <a:rPr sz="1550" b="1" spc="-9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b="1" spc="-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Interface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12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HTML</a:t>
                      </a:r>
                      <a:r>
                        <a:rPr sz="1550" spc="-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-1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550" spc="-4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CSS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Provides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control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6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over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7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page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structure,</a:t>
                      </a:r>
                      <a:r>
                        <a:rPr sz="1550" spc="1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1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layout,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visual</a:t>
                      </a:r>
                      <a:r>
                        <a:rPr sz="1550" spc="2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9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996950">
                        <a:lnSpc>
                          <a:spcPct val="100800"/>
                        </a:lnSpc>
                        <a:spcBef>
                          <a:spcPts val="810"/>
                        </a:spcBef>
                      </a:pP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Clean,</a:t>
                      </a:r>
                      <a:r>
                        <a:rPr sz="1550" spc="-4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8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5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styling</a:t>
                      </a:r>
                      <a:r>
                        <a:rPr sz="1550" spc="-35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550" spc="3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and </a:t>
                      </a:r>
                      <a:r>
                        <a:rPr sz="1550" spc="60" dirty="0">
                          <a:solidFill>
                            <a:srgbClr val="465469"/>
                          </a:solidFill>
                          <a:latin typeface="Tahoma"/>
                          <a:cs typeface="Tahoma"/>
                        </a:rPr>
                        <a:t>responsive</a:t>
                      </a:r>
                      <a:endParaRPr sz="1550">
                        <a:latin typeface="Tahoma"/>
                        <a:cs typeface="Tahoma"/>
                      </a:endParaRPr>
                    </a:p>
                  </a:txBody>
                  <a:tcPr marL="0" marR="0" marT="1028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7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26451" y="1505854"/>
            <a:ext cx="10173335" cy="1400175"/>
          </a:xfrm>
          <a:custGeom>
            <a:avLst/>
            <a:gdLst/>
            <a:ahLst/>
            <a:cxnLst/>
            <a:rect l="l" t="t" r="r" b="b"/>
            <a:pathLst>
              <a:path w="10173335" h="1400175">
                <a:moveTo>
                  <a:pt x="10011952" y="1400151"/>
                </a:moveTo>
                <a:lnTo>
                  <a:pt x="161925" y="1400151"/>
                </a:lnTo>
                <a:lnTo>
                  <a:pt x="130187" y="1397011"/>
                </a:lnTo>
                <a:lnTo>
                  <a:pt x="72089" y="1372945"/>
                </a:lnTo>
                <a:lnTo>
                  <a:pt x="27205" y="1328062"/>
                </a:lnTo>
                <a:lnTo>
                  <a:pt x="3140" y="1269963"/>
                </a:lnTo>
                <a:lnTo>
                  <a:pt x="0" y="1238226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5" y="0"/>
                </a:lnTo>
                <a:lnTo>
                  <a:pt x="10011952" y="0"/>
                </a:lnTo>
                <a:lnTo>
                  <a:pt x="10073919" y="12325"/>
                </a:lnTo>
                <a:lnTo>
                  <a:pt x="10126452" y="47426"/>
                </a:lnTo>
                <a:lnTo>
                  <a:pt x="10161552" y="99959"/>
                </a:lnTo>
                <a:lnTo>
                  <a:pt x="10172974" y="152789"/>
                </a:lnTo>
                <a:lnTo>
                  <a:pt x="10172974" y="1247362"/>
                </a:lnTo>
                <a:lnTo>
                  <a:pt x="10161552" y="1300192"/>
                </a:lnTo>
                <a:lnTo>
                  <a:pt x="10126452" y="1352724"/>
                </a:lnTo>
                <a:lnTo>
                  <a:pt x="10073919" y="1387825"/>
                </a:lnTo>
                <a:lnTo>
                  <a:pt x="10011952" y="1400151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52302" y="3924898"/>
            <a:ext cx="15807055" cy="4159885"/>
            <a:chOff x="1452302" y="3924898"/>
            <a:chExt cx="15807055" cy="4159885"/>
          </a:xfrm>
        </p:grpSpPr>
        <p:sp>
          <p:nvSpPr>
            <p:cNvPr id="4" name="object 4"/>
            <p:cNvSpPr/>
            <p:nvPr/>
          </p:nvSpPr>
          <p:spPr>
            <a:xfrm>
              <a:off x="1452302" y="3924898"/>
              <a:ext cx="15805785" cy="3227070"/>
            </a:xfrm>
            <a:custGeom>
              <a:avLst/>
              <a:gdLst/>
              <a:ahLst/>
              <a:cxnLst/>
              <a:rect l="l" t="t" r="r" b="b"/>
              <a:pathLst>
                <a:path w="15805785" h="3227070">
                  <a:moveTo>
                    <a:pt x="15764154" y="3251200"/>
                  </a:moveTo>
                  <a:lnTo>
                    <a:pt x="163157" y="3251200"/>
                  </a:lnTo>
                  <a:lnTo>
                    <a:pt x="131178" y="3248036"/>
                  </a:lnTo>
                  <a:lnTo>
                    <a:pt x="72637" y="3223787"/>
                  </a:lnTo>
                  <a:lnTo>
                    <a:pt x="27412" y="3178562"/>
                  </a:lnTo>
                  <a:lnTo>
                    <a:pt x="3164" y="3120021"/>
                  </a:lnTo>
                  <a:lnTo>
                    <a:pt x="0" y="3088042"/>
                  </a:lnTo>
                  <a:lnTo>
                    <a:pt x="0" y="163157"/>
                  </a:lnTo>
                  <a:lnTo>
                    <a:pt x="12419" y="100720"/>
                  </a:lnTo>
                  <a:lnTo>
                    <a:pt x="47787" y="47787"/>
                  </a:lnTo>
                  <a:lnTo>
                    <a:pt x="100719" y="12419"/>
                  </a:lnTo>
                  <a:lnTo>
                    <a:pt x="163157" y="0"/>
                  </a:lnTo>
                  <a:lnTo>
                    <a:pt x="15764154" y="0"/>
                  </a:lnTo>
                  <a:lnTo>
                    <a:pt x="15826591" y="12419"/>
                  </a:lnTo>
                  <a:lnTo>
                    <a:pt x="15879524" y="47787"/>
                  </a:lnTo>
                  <a:lnTo>
                    <a:pt x="15914892" y="100720"/>
                  </a:lnTo>
                  <a:lnTo>
                    <a:pt x="15925800" y="147877"/>
                  </a:lnTo>
                  <a:lnTo>
                    <a:pt x="15925800" y="3103322"/>
                  </a:lnTo>
                  <a:lnTo>
                    <a:pt x="15914892" y="3150480"/>
                  </a:lnTo>
                  <a:lnTo>
                    <a:pt x="15879524" y="3203412"/>
                  </a:lnTo>
                  <a:lnTo>
                    <a:pt x="15826591" y="3238780"/>
                  </a:lnTo>
                  <a:lnTo>
                    <a:pt x="15764154" y="3251200"/>
                  </a:lnTo>
                  <a:close/>
                </a:path>
              </a:pathLst>
            </a:custGeom>
            <a:solidFill>
              <a:srgbClr val="52B6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52302" y="7151539"/>
              <a:ext cx="15807055" cy="933450"/>
            </a:xfrm>
            <a:custGeom>
              <a:avLst/>
              <a:gdLst/>
              <a:ahLst/>
              <a:cxnLst/>
              <a:rect l="l" t="t" r="r" b="b"/>
              <a:pathLst>
                <a:path w="15807055" h="933450">
                  <a:moveTo>
                    <a:pt x="15645072" y="932926"/>
                  </a:moveTo>
                  <a:lnTo>
                    <a:pt x="161925" y="932926"/>
                  </a:lnTo>
                  <a:lnTo>
                    <a:pt x="130187" y="929785"/>
                  </a:lnTo>
                  <a:lnTo>
                    <a:pt x="72088" y="905720"/>
                  </a:lnTo>
                  <a:lnTo>
                    <a:pt x="27205" y="860836"/>
                  </a:lnTo>
                  <a:lnTo>
                    <a:pt x="3140" y="802738"/>
                  </a:lnTo>
                  <a:lnTo>
                    <a:pt x="0" y="771001"/>
                  </a:lnTo>
                  <a:lnTo>
                    <a:pt x="0" y="161925"/>
                  </a:lnTo>
                  <a:lnTo>
                    <a:pt x="12325" y="99958"/>
                  </a:lnTo>
                  <a:lnTo>
                    <a:pt x="47426" y="47426"/>
                  </a:lnTo>
                  <a:lnTo>
                    <a:pt x="99959" y="12325"/>
                  </a:lnTo>
                  <a:lnTo>
                    <a:pt x="161925" y="0"/>
                  </a:lnTo>
                  <a:lnTo>
                    <a:pt x="15645072" y="0"/>
                  </a:lnTo>
                  <a:lnTo>
                    <a:pt x="15707039" y="12325"/>
                  </a:lnTo>
                  <a:lnTo>
                    <a:pt x="15759570" y="47426"/>
                  </a:lnTo>
                  <a:lnTo>
                    <a:pt x="15794671" y="99958"/>
                  </a:lnTo>
                  <a:lnTo>
                    <a:pt x="15806997" y="161925"/>
                  </a:lnTo>
                  <a:lnTo>
                    <a:pt x="15806997" y="771001"/>
                  </a:lnTo>
                  <a:lnTo>
                    <a:pt x="15794671" y="832966"/>
                  </a:lnTo>
                  <a:lnTo>
                    <a:pt x="15759570" y="885498"/>
                  </a:lnTo>
                  <a:lnTo>
                    <a:pt x="15707039" y="920600"/>
                  </a:lnTo>
                  <a:lnTo>
                    <a:pt x="15645072" y="932926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526451" y="2818390"/>
            <a:ext cx="10173970" cy="509270"/>
          </a:xfrm>
          <a:custGeom>
            <a:avLst/>
            <a:gdLst/>
            <a:ahLst/>
            <a:cxnLst/>
            <a:rect l="l" t="t" r="r" b="b"/>
            <a:pathLst>
              <a:path w="10173969" h="509270">
                <a:moveTo>
                  <a:pt x="10011951" y="508741"/>
                </a:moveTo>
                <a:lnTo>
                  <a:pt x="161924" y="508741"/>
                </a:lnTo>
                <a:lnTo>
                  <a:pt x="130187" y="505601"/>
                </a:lnTo>
                <a:lnTo>
                  <a:pt x="72088" y="481535"/>
                </a:lnTo>
                <a:lnTo>
                  <a:pt x="27205" y="436652"/>
                </a:lnTo>
                <a:lnTo>
                  <a:pt x="3140" y="378553"/>
                </a:lnTo>
                <a:lnTo>
                  <a:pt x="0" y="346816"/>
                </a:lnTo>
                <a:lnTo>
                  <a:pt x="0" y="161924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9" y="12325"/>
                </a:lnTo>
                <a:lnTo>
                  <a:pt x="161924" y="0"/>
                </a:lnTo>
                <a:lnTo>
                  <a:pt x="10011951" y="0"/>
                </a:lnTo>
                <a:lnTo>
                  <a:pt x="10073916" y="12325"/>
                </a:lnTo>
                <a:lnTo>
                  <a:pt x="10126448" y="47426"/>
                </a:lnTo>
                <a:lnTo>
                  <a:pt x="10161550" y="99959"/>
                </a:lnTo>
                <a:lnTo>
                  <a:pt x="10173876" y="161924"/>
                </a:lnTo>
                <a:lnTo>
                  <a:pt x="10173876" y="346816"/>
                </a:lnTo>
                <a:lnTo>
                  <a:pt x="10161550" y="408782"/>
                </a:lnTo>
                <a:lnTo>
                  <a:pt x="10126448" y="461314"/>
                </a:lnTo>
                <a:lnTo>
                  <a:pt x="10073916" y="496415"/>
                </a:lnTo>
                <a:lnTo>
                  <a:pt x="10011951" y="508741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50056" y="4120627"/>
            <a:ext cx="14646910" cy="235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7600"/>
              </a:lnSpc>
              <a:spcBef>
                <a:spcPts val="100"/>
              </a:spcBef>
            </a:pP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visits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home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page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about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game's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sustainability-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focused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concept.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Next,</a:t>
            </a:r>
            <a:r>
              <a:rPr sz="2400" spc="-5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they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start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choose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category.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player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identifies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waste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item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selects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disposal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location.</a:t>
            </a:r>
            <a:r>
              <a:rPr sz="2400" spc="-7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system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provides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immediate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feedback,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explaining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choice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offering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information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on</a:t>
            </a:r>
            <a:r>
              <a:rPr sz="2400" spc="-7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proper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disposal.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correct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answers,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user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earns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points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advances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through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game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stages.</a:t>
            </a:r>
            <a:r>
              <a:rPr sz="2400" spc="-6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Finally,</a:t>
            </a:r>
            <a:r>
              <a:rPr sz="2400" spc="-5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7FAFB"/>
                </a:solidFill>
                <a:latin typeface="Arial MT"/>
                <a:cs typeface="Arial MT"/>
              </a:rPr>
              <a:t>they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track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their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score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progress,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with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option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replay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levels</a:t>
            </a:r>
            <a:r>
              <a:rPr sz="2400" spc="-45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7FAFB"/>
                </a:solidFill>
                <a:latin typeface="Arial MT"/>
                <a:cs typeface="Arial MT"/>
              </a:rPr>
              <a:t>to</a:t>
            </a:r>
            <a:r>
              <a:rPr sz="2400" spc="-40" dirty="0">
                <a:solidFill>
                  <a:srgbClr val="F7FAFB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7FAFB"/>
                </a:solidFill>
                <a:latin typeface="Arial MT"/>
                <a:cs typeface="Arial MT"/>
              </a:rPr>
              <a:t>improve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23959" y="1694947"/>
            <a:ext cx="7990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7FAFB"/>
                </a:solidFill>
              </a:rPr>
              <a:t>System Process </a:t>
            </a:r>
            <a:r>
              <a:rPr sz="5400" spc="-10" dirty="0">
                <a:solidFill>
                  <a:srgbClr val="F7FAFB"/>
                </a:solidFill>
              </a:rPr>
              <a:t>Workflow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4630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145" dirty="0"/>
              <a:t> </a:t>
            </a: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Prototype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0428" y="243840"/>
            <a:ext cx="8721498" cy="976883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71142" y="3540778"/>
            <a:ext cx="7051040" cy="4857115"/>
            <a:chOff x="371142" y="3540778"/>
            <a:chExt cx="7051040" cy="4857115"/>
          </a:xfrm>
        </p:grpSpPr>
        <p:sp>
          <p:nvSpPr>
            <p:cNvPr id="5" name="object 5"/>
            <p:cNvSpPr/>
            <p:nvPr/>
          </p:nvSpPr>
          <p:spPr>
            <a:xfrm>
              <a:off x="371142" y="4450079"/>
              <a:ext cx="7051040" cy="3086100"/>
            </a:xfrm>
            <a:custGeom>
              <a:avLst/>
              <a:gdLst/>
              <a:ahLst/>
              <a:cxnLst/>
              <a:rect l="l" t="t" r="r" b="b"/>
              <a:pathLst>
                <a:path w="7051040" h="3086100">
                  <a:moveTo>
                    <a:pt x="6888811" y="3086099"/>
                  </a:moveTo>
                  <a:lnTo>
                    <a:pt x="161925" y="3086099"/>
                  </a:lnTo>
                  <a:lnTo>
                    <a:pt x="130187" y="3082959"/>
                  </a:lnTo>
                  <a:lnTo>
                    <a:pt x="72088" y="3058894"/>
                  </a:lnTo>
                  <a:lnTo>
                    <a:pt x="27205" y="3014011"/>
                  </a:lnTo>
                  <a:lnTo>
                    <a:pt x="3140" y="2955912"/>
                  </a:lnTo>
                  <a:lnTo>
                    <a:pt x="0" y="2924174"/>
                  </a:lnTo>
                  <a:lnTo>
                    <a:pt x="0" y="161924"/>
                  </a:lnTo>
                  <a:lnTo>
                    <a:pt x="12325" y="99959"/>
                  </a:lnTo>
                  <a:lnTo>
                    <a:pt x="47426" y="47426"/>
                  </a:lnTo>
                  <a:lnTo>
                    <a:pt x="99958" y="12325"/>
                  </a:lnTo>
                  <a:lnTo>
                    <a:pt x="161925" y="0"/>
                  </a:lnTo>
                  <a:lnTo>
                    <a:pt x="6888811" y="0"/>
                  </a:lnTo>
                  <a:lnTo>
                    <a:pt x="6950778" y="12325"/>
                  </a:lnTo>
                  <a:lnTo>
                    <a:pt x="7003310" y="47426"/>
                  </a:lnTo>
                  <a:lnTo>
                    <a:pt x="7038411" y="99959"/>
                  </a:lnTo>
                  <a:lnTo>
                    <a:pt x="7050737" y="161924"/>
                  </a:lnTo>
                  <a:lnTo>
                    <a:pt x="7050737" y="2924174"/>
                  </a:lnTo>
                  <a:lnTo>
                    <a:pt x="7038411" y="2986141"/>
                  </a:lnTo>
                  <a:lnTo>
                    <a:pt x="7003310" y="3038672"/>
                  </a:lnTo>
                  <a:lnTo>
                    <a:pt x="6950778" y="3073773"/>
                  </a:lnTo>
                  <a:lnTo>
                    <a:pt x="6888811" y="3086099"/>
                  </a:lnTo>
                  <a:close/>
                </a:path>
              </a:pathLst>
            </a:custGeom>
            <a:solidFill>
              <a:srgbClr val="28AE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1132" y="3540784"/>
              <a:ext cx="7051040" cy="4857115"/>
            </a:xfrm>
            <a:custGeom>
              <a:avLst/>
              <a:gdLst/>
              <a:ahLst/>
              <a:cxnLst/>
              <a:rect l="l" t="t" r="r" b="b"/>
              <a:pathLst>
                <a:path w="7051040" h="4857115">
                  <a:moveTo>
                    <a:pt x="7050748" y="4109694"/>
                  </a:moveTo>
                  <a:lnTo>
                    <a:pt x="7038416" y="4047731"/>
                  </a:lnTo>
                  <a:lnTo>
                    <a:pt x="7003313" y="3995204"/>
                  </a:lnTo>
                  <a:lnTo>
                    <a:pt x="6950786" y="3960101"/>
                  </a:lnTo>
                  <a:lnTo>
                    <a:pt x="6888823" y="3947769"/>
                  </a:lnTo>
                  <a:lnTo>
                    <a:pt x="161925" y="3947769"/>
                  </a:lnTo>
                  <a:lnTo>
                    <a:pt x="99961" y="3960101"/>
                  </a:lnTo>
                  <a:lnTo>
                    <a:pt x="47434" y="3995204"/>
                  </a:lnTo>
                  <a:lnTo>
                    <a:pt x="12331" y="4047731"/>
                  </a:lnTo>
                  <a:lnTo>
                    <a:pt x="0" y="4109694"/>
                  </a:lnTo>
                  <a:lnTo>
                    <a:pt x="0" y="4695152"/>
                  </a:lnTo>
                  <a:lnTo>
                    <a:pt x="12331" y="4757115"/>
                  </a:lnTo>
                  <a:lnTo>
                    <a:pt x="47434" y="4809655"/>
                  </a:lnTo>
                  <a:lnTo>
                    <a:pt x="99961" y="4844758"/>
                  </a:lnTo>
                  <a:lnTo>
                    <a:pt x="161925" y="4857077"/>
                  </a:lnTo>
                  <a:lnTo>
                    <a:pt x="6888823" y="4857077"/>
                  </a:lnTo>
                  <a:lnTo>
                    <a:pt x="6950786" y="4844758"/>
                  </a:lnTo>
                  <a:lnTo>
                    <a:pt x="7003313" y="4809655"/>
                  </a:lnTo>
                  <a:lnTo>
                    <a:pt x="7038416" y="4757115"/>
                  </a:lnTo>
                  <a:lnTo>
                    <a:pt x="7050748" y="4695152"/>
                  </a:lnTo>
                  <a:lnTo>
                    <a:pt x="7050748" y="4109694"/>
                  </a:lnTo>
                  <a:close/>
                </a:path>
                <a:path w="7051040" h="4857115">
                  <a:moveTo>
                    <a:pt x="7050748" y="161925"/>
                  </a:moveTo>
                  <a:lnTo>
                    <a:pt x="7038416" y="99961"/>
                  </a:lnTo>
                  <a:lnTo>
                    <a:pt x="7003313" y="47421"/>
                  </a:lnTo>
                  <a:lnTo>
                    <a:pt x="6950786" y="12319"/>
                  </a:lnTo>
                  <a:lnTo>
                    <a:pt x="6888823" y="0"/>
                  </a:lnTo>
                  <a:lnTo>
                    <a:pt x="161925" y="0"/>
                  </a:lnTo>
                  <a:lnTo>
                    <a:pt x="99961" y="12319"/>
                  </a:lnTo>
                  <a:lnTo>
                    <a:pt x="47434" y="47421"/>
                  </a:lnTo>
                  <a:lnTo>
                    <a:pt x="12331" y="99961"/>
                  </a:lnTo>
                  <a:lnTo>
                    <a:pt x="0" y="161925"/>
                  </a:lnTo>
                  <a:lnTo>
                    <a:pt x="0" y="747382"/>
                  </a:lnTo>
                  <a:lnTo>
                    <a:pt x="12331" y="809345"/>
                  </a:lnTo>
                  <a:lnTo>
                    <a:pt x="47434" y="861872"/>
                  </a:lnTo>
                  <a:lnTo>
                    <a:pt x="99961" y="896975"/>
                  </a:lnTo>
                  <a:lnTo>
                    <a:pt x="161925" y="909307"/>
                  </a:lnTo>
                  <a:lnTo>
                    <a:pt x="6888823" y="909307"/>
                  </a:lnTo>
                  <a:lnTo>
                    <a:pt x="6950786" y="896975"/>
                  </a:lnTo>
                  <a:lnTo>
                    <a:pt x="7003313" y="861872"/>
                  </a:lnTo>
                  <a:lnTo>
                    <a:pt x="7038416" y="809345"/>
                  </a:lnTo>
                  <a:lnTo>
                    <a:pt x="7050748" y="747382"/>
                  </a:lnTo>
                  <a:lnTo>
                    <a:pt x="7050748" y="161925"/>
                  </a:lnTo>
                  <a:close/>
                </a:path>
              </a:pathLst>
            </a:custGeom>
            <a:solidFill>
              <a:srgbClr val="E7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9591" y="3700091"/>
            <a:ext cx="6497320" cy="3347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Interactive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03373"/>
                </a:solidFill>
                <a:latin typeface="Arial MT"/>
                <a:cs typeface="Arial MT"/>
              </a:rPr>
              <a:t>game</a:t>
            </a:r>
            <a:r>
              <a:rPr sz="4000" spc="-145" dirty="0">
                <a:solidFill>
                  <a:srgbClr val="003373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03373"/>
                </a:solidFill>
                <a:latin typeface="Arial MT"/>
                <a:cs typeface="Arial MT"/>
              </a:rPr>
              <a:t>menus</a:t>
            </a:r>
            <a:endParaRPr sz="4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4555"/>
              </a:spcBef>
            </a:pP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clean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minimalistic</a:t>
            </a:r>
            <a:r>
              <a:rPr sz="3500" spc="-8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0" dirty="0">
                <a:solidFill>
                  <a:srgbClr val="E7F1EB"/>
                </a:solidFill>
                <a:latin typeface="Arial MT"/>
                <a:cs typeface="Arial MT"/>
              </a:rPr>
              <a:t>menu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allows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player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to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acess</a:t>
            </a:r>
            <a:r>
              <a:rPr sz="3500" spc="-6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25" dirty="0">
                <a:solidFill>
                  <a:srgbClr val="E7F1EB"/>
                </a:solidFill>
                <a:latin typeface="Arial MT"/>
                <a:cs typeface="Arial MT"/>
              </a:rPr>
              <a:t>the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contents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of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the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game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</a:t>
            </a:r>
            <a:r>
              <a:rPr sz="3500" spc="-7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50" dirty="0">
                <a:solidFill>
                  <a:srgbClr val="E7F1EB"/>
                </a:solidFill>
                <a:latin typeface="Arial MT"/>
                <a:cs typeface="Arial MT"/>
              </a:rPr>
              <a:t>a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intuitive</a:t>
            </a:r>
            <a:r>
              <a:rPr sz="3500" spc="-105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and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E7F1EB"/>
                </a:solidFill>
                <a:latin typeface="Arial MT"/>
                <a:cs typeface="Arial MT"/>
              </a:rPr>
              <a:t>pratical</a:t>
            </a:r>
            <a:r>
              <a:rPr sz="3500" spc="-100" dirty="0">
                <a:solidFill>
                  <a:srgbClr val="E7F1EB"/>
                </a:solidFill>
                <a:latin typeface="Arial MT"/>
                <a:cs typeface="Arial MT"/>
              </a:rPr>
              <a:t> </a:t>
            </a:r>
            <a:r>
              <a:rPr sz="3500" spc="-10" dirty="0">
                <a:solidFill>
                  <a:srgbClr val="E7F1EB"/>
                </a:solidFill>
                <a:latin typeface="Arial MT"/>
                <a:cs typeface="Arial MT"/>
              </a:rPr>
              <a:t>manner</a:t>
            </a:r>
            <a:endParaRPr sz="3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0279" y="228663"/>
            <a:ext cx="8477250" cy="8331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300" b="1" dirty="0">
                <a:latin typeface="Arial"/>
                <a:cs typeface="Arial"/>
              </a:rPr>
              <a:t>Anticipated</a:t>
            </a:r>
            <a:r>
              <a:rPr sz="5300" b="1" spc="-250" dirty="0">
                <a:latin typeface="Arial"/>
                <a:cs typeface="Arial"/>
              </a:rPr>
              <a:t> </a:t>
            </a:r>
            <a:r>
              <a:rPr sz="5300" b="1" dirty="0">
                <a:latin typeface="Arial"/>
                <a:cs typeface="Arial"/>
              </a:rPr>
              <a:t>project</a:t>
            </a:r>
            <a:r>
              <a:rPr sz="5300" b="1" spc="-229" dirty="0">
                <a:latin typeface="Arial"/>
                <a:cs typeface="Arial"/>
              </a:rPr>
              <a:t> </a:t>
            </a:r>
            <a:r>
              <a:rPr sz="5300" b="1" spc="-10" dirty="0">
                <a:latin typeface="Arial"/>
                <a:cs typeface="Arial"/>
              </a:rPr>
              <a:t>impact</a:t>
            </a:r>
            <a:endParaRPr sz="5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9277" y="1906373"/>
            <a:ext cx="7527925" cy="1238885"/>
          </a:xfrm>
          <a:prstGeom prst="rect">
            <a:avLst/>
          </a:prstGeom>
          <a:solidFill>
            <a:srgbClr val="E7F1EB"/>
          </a:solidFill>
        </p:spPr>
        <p:txBody>
          <a:bodyPr vert="horz" wrap="square" lIns="0" tIns="85725" rIns="0" bIns="0" rtlCol="0">
            <a:spAutoFit/>
          </a:bodyPr>
          <a:lstStyle/>
          <a:p>
            <a:pPr marL="503555">
              <a:lnSpc>
                <a:spcPct val="100000"/>
              </a:lnSpc>
              <a:spcBef>
                <a:spcPts val="675"/>
              </a:spcBef>
            </a:pP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Expected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0E1729"/>
                </a:solidFill>
                <a:latin typeface="Arial MT"/>
                <a:cs typeface="Arial MT"/>
              </a:rPr>
              <a:t>Operational</a:t>
            </a:r>
            <a:r>
              <a:rPr sz="3300" spc="-155" dirty="0">
                <a:solidFill>
                  <a:srgbClr val="0E1729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E1729"/>
                </a:solidFill>
                <a:latin typeface="Arial MT"/>
                <a:cs typeface="Arial MT"/>
              </a:rPr>
              <a:t>Contributions</a:t>
            </a:r>
            <a:endParaRPr sz="33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277" y="419261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177955" y="3860427"/>
                </a:moveTo>
                <a:lnTo>
                  <a:pt x="161925" y="3860427"/>
                </a:lnTo>
                <a:lnTo>
                  <a:pt x="130187" y="3857287"/>
                </a:lnTo>
                <a:lnTo>
                  <a:pt x="72088" y="3833222"/>
                </a:lnTo>
                <a:lnTo>
                  <a:pt x="27205" y="3788338"/>
                </a:lnTo>
                <a:lnTo>
                  <a:pt x="3140" y="3730240"/>
                </a:lnTo>
                <a:lnTo>
                  <a:pt x="0" y="3698502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6"/>
                </a:lnTo>
                <a:lnTo>
                  <a:pt x="99958" y="12325"/>
                </a:lnTo>
                <a:lnTo>
                  <a:pt x="161925" y="0"/>
                </a:lnTo>
                <a:lnTo>
                  <a:pt x="8177955" y="0"/>
                </a:lnTo>
                <a:lnTo>
                  <a:pt x="8239921" y="12325"/>
                </a:lnTo>
                <a:lnTo>
                  <a:pt x="8292453" y="47426"/>
                </a:lnTo>
                <a:lnTo>
                  <a:pt x="8327554" y="99959"/>
                </a:lnTo>
                <a:lnTo>
                  <a:pt x="8339126" y="154309"/>
                </a:lnTo>
                <a:lnTo>
                  <a:pt x="8339126" y="3706118"/>
                </a:lnTo>
                <a:lnTo>
                  <a:pt x="8327554" y="3760468"/>
                </a:lnTo>
                <a:lnTo>
                  <a:pt x="8292453" y="3813000"/>
                </a:lnTo>
                <a:lnTo>
                  <a:pt x="8239921" y="3848101"/>
                </a:lnTo>
                <a:lnTo>
                  <a:pt x="8177955" y="3860427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30740" y="4192625"/>
            <a:ext cx="8339455" cy="3860800"/>
          </a:xfrm>
          <a:custGeom>
            <a:avLst/>
            <a:gdLst/>
            <a:ahLst/>
            <a:cxnLst/>
            <a:rect l="l" t="t" r="r" b="b"/>
            <a:pathLst>
              <a:path w="8339455" h="3860800">
                <a:moveTo>
                  <a:pt x="8339125" y="154305"/>
                </a:moveTo>
                <a:lnTo>
                  <a:pt x="8327542" y="99961"/>
                </a:lnTo>
                <a:lnTo>
                  <a:pt x="8292452" y="47421"/>
                </a:lnTo>
                <a:lnTo>
                  <a:pt x="8239912" y="12319"/>
                </a:lnTo>
                <a:lnTo>
                  <a:pt x="8177949" y="0"/>
                </a:lnTo>
                <a:lnTo>
                  <a:pt x="161925" y="0"/>
                </a:lnTo>
                <a:lnTo>
                  <a:pt x="99949" y="12319"/>
                </a:lnTo>
                <a:lnTo>
                  <a:pt x="47421" y="47421"/>
                </a:lnTo>
                <a:lnTo>
                  <a:pt x="12319" y="99961"/>
                </a:lnTo>
                <a:lnTo>
                  <a:pt x="0" y="161925"/>
                </a:lnTo>
                <a:lnTo>
                  <a:pt x="0" y="3698494"/>
                </a:lnTo>
                <a:lnTo>
                  <a:pt x="12319" y="3760470"/>
                </a:lnTo>
                <a:lnTo>
                  <a:pt x="47421" y="3812997"/>
                </a:lnTo>
                <a:lnTo>
                  <a:pt x="99949" y="3848100"/>
                </a:lnTo>
                <a:lnTo>
                  <a:pt x="161925" y="3860419"/>
                </a:lnTo>
                <a:lnTo>
                  <a:pt x="8177949" y="3860419"/>
                </a:lnTo>
                <a:lnTo>
                  <a:pt x="8239912" y="3848100"/>
                </a:lnTo>
                <a:lnTo>
                  <a:pt x="8292452" y="3812997"/>
                </a:lnTo>
                <a:lnTo>
                  <a:pt x="8327542" y="3760470"/>
                </a:lnTo>
                <a:lnTo>
                  <a:pt x="8339125" y="3706114"/>
                </a:lnTo>
                <a:lnTo>
                  <a:pt x="8339125" y="154305"/>
                </a:lnTo>
                <a:close/>
              </a:path>
            </a:pathLst>
          </a:custGeom>
          <a:solidFill>
            <a:srgbClr val="52B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54100" y="4709954"/>
            <a:ext cx="743775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Enhanced</a:t>
            </a:r>
            <a:r>
              <a:rPr sz="3000" b="1" spc="-10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Cleaning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&amp;</a:t>
            </a:r>
            <a:r>
              <a:rPr sz="3000" b="1" spc="-9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Sanitation: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Eliminates recycling misunderstandings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promotesa cleaner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enviroment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1799" y="4709954"/>
            <a:ext cx="6823075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Superior</a:t>
            </a:r>
            <a:r>
              <a:rPr sz="3000" b="1" spc="-65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465469"/>
                </a:solidFill>
                <a:latin typeface="Arial"/>
                <a:cs typeface="Arial"/>
              </a:rPr>
              <a:t>Decision-Making</a:t>
            </a:r>
            <a:r>
              <a:rPr sz="3000" b="1" spc="-60" dirty="0">
                <a:solidFill>
                  <a:srgbClr val="465469"/>
                </a:solidFill>
                <a:latin typeface="Arial"/>
                <a:cs typeface="Arial"/>
              </a:rPr>
              <a:t> </a:t>
            </a:r>
            <a:r>
              <a:rPr sz="3000" b="1" spc="-10" dirty="0">
                <a:solidFill>
                  <a:srgbClr val="465469"/>
                </a:solidFill>
                <a:latin typeface="Arial"/>
                <a:cs typeface="Arial"/>
              </a:rPr>
              <a:t>Control: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Dynamic project health indicators </a:t>
            </a:r>
            <a:r>
              <a:rPr sz="3000" spc="-25" dirty="0">
                <a:solidFill>
                  <a:srgbClr val="465469"/>
                </a:solidFill>
                <a:latin typeface="Arial MT"/>
                <a:cs typeface="Arial MT"/>
              </a:rPr>
              <a:t>and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structured activity breakdowns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empower </a:t>
            </a:r>
            <a:r>
              <a:rPr sz="3000" dirty="0">
                <a:solidFill>
                  <a:srgbClr val="465469"/>
                </a:solidFill>
                <a:latin typeface="Arial MT"/>
                <a:cs typeface="Arial MT"/>
              </a:rPr>
              <a:t>stakeholders to allocate resources </a:t>
            </a:r>
            <a:r>
              <a:rPr sz="3000" spc="-20" dirty="0">
                <a:solidFill>
                  <a:srgbClr val="465469"/>
                </a:solidFill>
                <a:latin typeface="Arial MT"/>
                <a:cs typeface="Arial MT"/>
              </a:rPr>
              <a:t>with </a:t>
            </a:r>
            <a:r>
              <a:rPr sz="3000" spc="-10" dirty="0">
                <a:solidFill>
                  <a:srgbClr val="465469"/>
                </a:solidFill>
                <a:latin typeface="Arial MT"/>
                <a:cs typeface="Arial MT"/>
              </a:rPr>
              <a:t>precision.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6856" y="7739598"/>
            <a:ext cx="8463280" cy="1053465"/>
          </a:xfrm>
          <a:custGeom>
            <a:avLst/>
            <a:gdLst/>
            <a:ahLst/>
            <a:cxnLst/>
            <a:rect l="l" t="t" r="r" b="b"/>
            <a:pathLst>
              <a:path w="8463280" h="1053465">
                <a:moveTo>
                  <a:pt x="8302797" y="1053205"/>
                </a:moveTo>
                <a:lnTo>
                  <a:pt x="161925" y="1053205"/>
                </a:lnTo>
                <a:lnTo>
                  <a:pt x="130187" y="1050065"/>
                </a:lnTo>
                <a:lnTo>
                  <a:pt x="72088" y="1025999"/>
                </a:lnTo>
                <a:lnTo>
                  <a:pt x="27205" y="981116"/>
                </a:lnTo>
                <a:lnTo>
                  <a:pt x="3140" y="923017"/>
                </a:lnTo>
                <a:lnTo>
                  <a:pt x="0" y="891280"/>
                </a:lnTo>
                <a:lnTo>
                  <a:pt x="0" y="161925"/>
                </a:lnTo>
                <a:lnTo>
                  <a:pt x="12325" y="99959"/>
                </a:lnTo>
                <a:lnTo>
                  <a:pt x="47426" y="47427"/>
                </a:lnTo>
                <a:lnTo>
                  <a:pt x="99958" y="12326"/>
                </a:lnTo>
                <a:lnTo>
                  <a:pt x="161925" y="0"/>
                </a:lnTo>
                <a:lnTo>
                  <a:pt x="8302797" y="0"/>
                </a:lnTo>
                <a:lnTo>
                  <a:pt x="8334534" y="3140"/>
                </a:lnTo>
                <a:lnTo>
                  <a:pt x="8392632" y="27205"/>
                </a:lnTo>
                <a:lnTo>
                  <a:pt x="8437516" y="72089"/>
                </a:lnTo>
                <a:lnTo>
                  <a:pt x="8461581" y="130187"/>
                </a:lnTo>
                <a:lnTo>
                  <a:pt x="8462669" y="141177"/>
                </a:lnTo>
                <a:lnTo>
                  <a:pt x="8462669" y="912028"/>
                </a:lnTo>
                <a:lnTo>
                  <a:pt x="8452396" y="953246"/>
                </a:lnTo>
                <a:lnTo>
                  <a:pt x="8417294" y="1005778"/>
                </a:lnTo>
                <a:lnTo>
                  <a:pt x="8364762" y="1040879"/>
                </a:lnTo>
                <a:lnTo>
                  <a:pt x="8302797" y="1053205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30740" y="7890506"/>
            <a:ext cx="8338820" cy="1054735"/>
          </a:xfrm>
          <a:custGeom>
            <a:avLst/>
            <a:gdLst/>
            <a:ahLst/>
            <a:cxnLst/>
            <a:rect l="l" t="t" r="r" b="b"/>
            <a:pathLst>
              <a:path w="8338819" h="1054734">
                <a:moveTo>
                  <a:pt x="8177954" y="1054697"/>
                </a:moveTo>
                <a:lnTo>
                  <a:pt x="161925" y="1054697"/>
                </a:lnTo>
                <a:lnTo>
                  <a:pt x="130187" y="1051558"/>
                </a:lnTo>
                <a:lnTo>
                  <a:pt x="72089" y="1027492"/>
                </a:lnTo>
                <a:lnTo>
                  <a:pt x="27205" y="982608"/>
                </a:lnTo>
                <a:lnTo>
                  <a:pt x="3140" y="924510"/>
                </a:lnTo>
                <a:lnTo>
                  <a:pt x="0" y="892773"/>
                </a:lnTo>
                <a:lnTo>
                  <a:pt x="0" y="161925"/>
                </a:lnTo>
                <a:lnTo>
                  <a:pt x="12326" y="99959"/>
                </a:lnTo>
                <a:lnTo>
                  <a:pt x="47427" y="47427"/>
                </a:lnTo>
                <a:lnTo>
                  <a:pt x="99959" y="12326"/>
                </a:lnTo>
                <a:lnTo>
                  <a:pt x="161925" y="0"/>
                </a:lnTo>
                <a:lnTo>
                  <a:pt x="8177954" y="0"/>
                </a:lnTo>
                <a:lnTo>
                  <a:pt x="8209691" y="3140"/>
                </a:lnTo>
                <a:lnTo>
                  <a:pt x="8267790" y="27205"/>
                </a:lnTo>
                <a:lnTo>
                  <a:pt x="8312674" y="72089"/>
                </a:lnTo>
                <a:lnTo>
                  <a:pt x="8336739" y="130187"/>
                </a:lnTo>
                <a:lnTo>
                  <a:pt x="8338704" y="150051"/>
                </a:lnTo>
                <a:lnTo>
                  <a:pt x="8338704" y="904646"/>
                </a:lnTo>
                <a:lnTo>
                  <a:pt x="8327553" y="954738"/>
                </a:lnTo>
                <a:lnTo>
                  <a:pt x="8292452" y="1007271"/>
                </a:lnTo>
                <a:lnTo>
                  <a:pt x="8239920" y="1042372"/>
                </a:lnTo>
                <a:lnTo>
                  <a:pt x="8177954" y="1054697"/>
                </a:lnTo>
                <a:close/>
              </a:path>
            </a:pathLst>
          </a:custGeom>
          <a:solidFill>
            <a:srgbClr val="E7F1E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BCEFB-F416-CF42-DF56-CA4304D8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29" y="228663"/>
            <a:ext cx="17533741" cy="677108"/>
          </a:xfrm>
        </p:spPr>
        <p:txBody>
          <a:bodyPr/>
          <a:lstStyle/>
          <a:p>
            <a:r>
              <a:rPr lang="en-US" altLang="ko-KR" dirty="0"/>
              <a:t>                                             Working Demo:</a:t>
            </a:r>
            <a:endParaRPr lang="ko-KR" alt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61ABC-641F-772A-5259-1610BA4D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WhatsApp Video 2026-09-22 at 13.10.02">
            <a:hlinkClick r:id="" action="ppaction://media"/>
            <a:extLst>
              <a:ext uri="{FF2B5EF4-FFF2-40B4-BE49-F238E27FC236}">
                <a16:creationId xmlns:a16="http://schemas.microsoft.com/office/drawing/2014/main" id="{24022341-98B5-1C52-2659-C57976BA10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86100" y="1333500"/>
            <a:ext cx="121158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8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0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690</Words>
  <Application>Microsoft Office PowerPoint</Application>
  <PresentationFormat>Personalizar</PresentationFormat>
  <Paragraphs>72</Paragraphs>
  <Slides>13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1" baseType="lpstr">
      <vt:lpstr>Arial MT</vt:lpstr>
      <vt:lpstr>Arial</vt:lpstr>
      <vt:lpstr>Calibri</vt:lpstr>
      <vt:lpstr>Neue Haas Grotesk Text Pro</vt:lpstr>
      <vt:lpstr>Segoe UI Emoji</vt:lpstr>
      <vt:lpstr>Tahoma</vt:lpstr>
      <vt:lpstr>Times New Roman</vt:lpstr>
      <vt:lpstr>Office Theme</vt:lpstr>
      <vt:lpstr>Korean IT Educational Foundation</vt:lpstr>
      <vt:lpstr>Executive Project Overview</vt:lpstr>
      <vt:lpstr>Problems and lacunes</vt:lpstr>
      <vt:lpstr>OBJETIVOS ESTRATÈGICOS</vt:lpstr>
      <vt:lpstr>Personas do Publico-Alvo</vt:lpstr>
      <vt:lpstr>Apresentação do PowerPoint</vt:lpstr>
      <vt:lpstr>CORE USECASE CHARACTERISTICS</vt:lpstr>
      <vt:lpstr>System Process Workflow</vt:lpstr>
      <vt:lpstr>Technology Infrastructure</vt:lpstr>
      <vt:lpstr>System Process Workflow</vt:lpstr>
      <vt:lpstr>Interactive System Prototype</vt:lpstr>
      <vt:lpstr>Anticipated project impact</vt:lpstr>
      <vt:lpstr>                                             Working Demo: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Apresentação1 1 (1).pptx</dc:title>
  <dc:creator>Françoar Henrique</dc:creator>
  <cp:keywords>DAHV4ef5iCU,BAGmZkpX6Co</cp:keywords>
  <cp:lastModifiedBy>KOREAITDASAN</cp:lastModifiedBy>
  <cp:revision>3</cp:revision>
  <dcterms:created xsi:type="dcterms:W3CDTF">2026-09-22T02:33:00Z</dcterms:created>
  <dcterms:modified xsi:type="dcterms:W3CDTF">2026-09-22T05:11:00Z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2026-09-22T00:00:00Z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2026-09-22T00:00:00Z</vt:filetime>
  </property>
  <property fmtid="{D5CDD505-2E9C-101B-9397-08002B2CF9AE}" pid="6" name="Producer">
    <vt:lpwstr>Canva</vt:lpwstr>
  </property>
</Properties>
</file>